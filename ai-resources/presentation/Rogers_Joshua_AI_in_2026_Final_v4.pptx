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5DD"/>
    <a:srgbClr val="9E7B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456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4"/>
        </a:solidFill>
        <a:effectLst/>
      </p:bgPr>
    </p:bg>
    <p:spTree>
      <p:nvGrpSpPr>
        <p:cNvPr id="1" name=""/>
        <p:cNvGrpSpPr/>
        <p:nvPr/>
      </p:nvGrpSpPr>
      <p:grpSpPr>
        <a:xfrm>
          <a:off x="0" y="0"/>
          <a:ext cx="0" cy="0"/>
          <a:chOff x="0" y="0"/>
          <a:chExt cx="0" cy="0"/>
        </a:xfrm>
      </p:grpSpPr>
      <p:sp>
        <p:nvSpPr>
          <p:cNvPr id="2" name="Shape 0"/>
          <p:cNvSpPr/>
          <p:nvPr/>
        </p:nvSpPr>
        <p:spPr>
          <a:xfrm>
            <a:off x="8686800" y="3108960"/>
            <a:ext cx="164592" cy="1097280"/>
          </a:xfrm>
          <a:prstGeom prst="rect">
            <a:avLst/>
          </a:prstGeom>
          <a:solidFill>
            <a:srgbClr val="2A1F1F">
              <a:alpha val="70000"/>
            </a:srgbClr>
          </a:solidFill>
          <a:ln w="12700">
            <a:solidFill>
              <a:srgbClr val="2A1F1F"/>
            </a:solidFill>
            <a:prstDash val="solid"/>
          </a:ln>
        </p:spPr>
        <p:txBody>
          <a:bodyPr/>
          <a:lstStyle/>
          <a:p>
            <a:endParaRPr lang="en-US"/>
          </a:p>
        </p:txBody>
      </p:sp>
      <p:sp>
        <p:nvSpPr>
          <p:cNvPr id="3" name="Shape 1"/>
          <p:cNvSpPr/>
          <p:nvPr/>
        </p:nvSpPr>
        <p:spPr>
          <a:xfrm>
            <a:off x="8979408" y="3291840"/>
            <a:ext cx="164592" cy="731520"/>
          </a:xfrm>
          <a:prstGeom prst="rect">
            <a:avLst/>
          </a:prstGeom>
          <a:solidFill>
            <a:srgbClr val="1F3A4D">
              <a:alpha val="70000"/>
            </a:srgbClr>
          </a:solidFill>
          <a:ln w="12700">
            <a:solidFill>
              <a:srgbClr val="1F3A4D"/>
            </a:solidFill>
            <a:prstDash val="solid"/>
          </a:ln>
        </p:spPr>
        <p:txBody>
          <a:bodyPr/>
          <a:lstStyle/>
          <a:p>
            <a:endParaRPr lang="en-US"/>
          </a:p>
        </p:txBody>
      </p:sp>
      <p:sp>
        <p:nvSpPr>
          <p:cNvPr id="4" name="Shape 2"/>
          <p:cNvSpPr/>
          <p:nvPr/>
        </p:nvSpPr>
        <p:spPr>
          <a:xfrm>
            <a:off x="9272016" y="2926080"/>
            <a:ext cx="164592" cy="1463040"/>
          </a:xfrm>
          <a:prstGeom prst="rect">
            <a:avLst/>
          </a:prstGeom>
          <a:solidFill>
            <a:srgbClr val="1F3A4D">
              <a:alpha val="70000"/>
            </a:srgbClr>
          </a:solidFill>
          <a:ln w="12700">
            <a:solidFill>
              <a:srgbClr val="1F3A4D"/>
            </a:solidFill>
            <a:prstDash val="solid"/>
          </a:ln>
        </p:spPr>
        <p:txBody>
          <a:bodyPr/>
          <a:lstStyle/>
          <a:p>
            <a:endParaRPr lang="en-US"/>
          </a:p>
        </p:txBody>
      </p:sp>
      <p:sp>
        <p:nvSpPr>
          <p:cNvPr id="5" name="Shape 3"/>
          <p:cNvSpPr/>
          <p:nvPr/>
        </p:nvSpPr>
        <p:spPr>
          <a:xfrm>
            <a:off x="9564624" y="3200400"/>
            <a:ext cx="164592" cy="914400"/>
          </a:xfrm>
          <a:prstGeom prst="rect">
            <a:avLst/>
          </a:prstGeom>
          <a:solidFill>
            <a:srgbClr val="1F3A4D">
              <a:alpha val="70000"/>
            </a:srgbClr>
          </a:solidFill>
          <a:ln w="12700">
            <a:solidFill>
              <a:srgbClr val="1F3A4D"/>
            </a:solidFill>
            <a:prstDash val="solid"/>
          </a:ln>
        </p:spPr>
        <p:txBody>
          <a:bodyPr/>
          <a:lstStyle/>
          <a:p>
            <a:endParaRPr lang="en-US"/>
          </a:p>
        </p:txBody>
      </p:sp>
      <p:sp>
        <p:nvSpPr>
          <p:cNvPr id="6" name="Shape 4"/>
          <p:cNvSpPr/>
          <p:nvPr/>
        </p:nvSpPr>
        <p:spPr>
          <a:xfrm>
            <a:off x="9857232" y="2743200"/>
            <a:ext cx="164592" cy="1828800"/>
          </a:xfrm>
          <a:prstGeom prst="rect">
            <a:avLst/>
          </a:prstGeom>
          <a:solidFill>
            <a:srgbClr val="2A1F1F">
              <a:alpha val="70000"/>
            </a:srgbClr>
          </a:solidFill>
          <a:ln w="12700">
            <a:solidFill>
              <a:srgbClr val="2A1F1F"/>
            </a:solidFill>
            <a:prstDash val="solid"/>
          </a:ln>
        </p:spPr>
        <p:txBody>
          <a:bodyPr/>
          <a:lstStyle/>
          <a:p>
            <a:endParaRPr lang="en-US"/>
          </a:p>
        </p:txBody>
      </p:sp>
      <p:sp>
        <p:nvSpPr>
          <p:cNvPr id="7" name="Shape 5"/>
          <p:cNvSpPr/>
          <p:nvPr/>
        </p:nvSpPr>
        <p:spPr>
          <a:xfrm>
            <a:off x="10149840" y="3017520"/>
            <a:ext cx="164592" cy="1280160"/>
          </a:xfrm>
          <a:prstGeom prst="rect">
            <a:avLst/>
          </a:prstGeom>
          <a:solidFill>
            <a:srgbClr val="2A1F1F">
              <a:alpha val="70000"/>
            </a:srgbClr>
          </a:solidFill>
          <a:ln w="12700">
            <a:solidFill>
              <a:srgbClr val="2A1F1F"/>
            </a:solidFill>
            <a:prstDash val="solid"/>
          </a:ln>
        </p:spPr>
        <p:txBody>
          <a:bodyPr/>
          <a:lstStyle/>
          <a:p>
            <a:endParaRPr lang="en-US"/>
          </a:p>
        </p:txBody>
      </p:sp>
      <p:sp>
        <p:nvSpPr>
          <p:cNvPr id="8" name="Shape 6"/>
          <p:cNvSpPr/>
          <p:nvPr/>
        </p:nvSpPr>
        <p:spPr>
          <a:xfrm>
            <a:off x="10442448" y="3246120"/>
            <a:ext cx="164592" cy="822960"/>
          </a:xfrm>
          <a:prstGeom prst="rect">
            <a:avLst/>
          </a:prstGeom>
          <a:solidFill>
            <a:srgbClr val="2A1F1F">
              <a:alpha val="70000"/>
            </a:srgbClr>
          </a:solidFill>
          <a:ln w="12700">
            <a:solidFill>
              <a:srgbClr val="2A1F1F"/>
            </a:solidFill>
            <a:prstDash val="solid"/>
          </a:ln>
        </p:spPr>
        <p:txBody>
          <a:bodyPr/>
          <a:lstStyle/>
          <a:p>
            <a:endParaRPr lang="en-US"/>
          </a:p>
        </p:txBody>
      </p:sp>
      <p:sp>
        <p:nvSpPr>
          <p:cNvPr id="9" name="Shape 7"/>
          <p:cNvSpPr/>
          <p:nvPr/>
        </p:nvSpPr>
        <p:spPr>
          <a:xfrm>
            <a:off x="10735056" y="2880360"/>
            <a:ext cx="164592" cy="1554480"/>
          </a:xfrm>
          <a:prstGeom prst="rect">
            <a:avLst/>
          </a:prstGeom>
          <a:solidFill>
            <a:srgbClr val="2A1F1F">
              <a:alpha val="70000"/>
            </a:srgbClr>
          </a:solidFill>
          <a:ln w="12700">
            <a:solidFill>
              <a:srgbClr val="2A1F1F"/>
            </a:solidFill>
            <a:prstDash val="solid"/>
          </a:ln>
        </p:spPr>
        <p:txBody>
          <a:bodyPr/>
          <a:lstStyle/>
          <a:p>
            <a:endParaRPr lang="en-US"/>
          </a:p>
        </p:txBody>
      </p:sp>
      <p:sp>
        <p:nvSpPr>
          <p:cNvPr id="10" name="Shape 8"/>
          <p:cNvSpPr/>
          <p:nvPr/>
        </p:nvSpPr>
        <p:spPr>
          <a:xfrm>
            <a:off x="11027664" y="3154680"/>
            <a:ext cx="164592" cy="1005840"/>
          </a:xfrm>
          <a:prstGeom prst="rect">
            <a:avLst/>
          </a:prstGeom>
          <a:solidFill>
            <a:srgbClr val="2A1F1F">
              <a:alpha val="70000"/>
            </a:srgbClr>
          </a:solidFill>
          <a:ln w="12700">
            <a:solidFill>
              <a:srgbClr val="2A1F1F"/>
            </a:solidFill>
            <a:prstDash val="solid"/>
          </a:ln>
        </p:spPr>
        <p:txBody>
          <a:bodyPr/>
          <a:lstStyle/>
          <a:p>
            <a:endParaRPr lang="en-US"/>
          </a:p>
        </p:txBody>
      </p:sp>
      <p:sp>
        <p:nvSpPr>
          <p:cNvPr id="11" name="Shape 9"/>
          <p:cNvSpPr/>
          <p:nvPr/>
        </p:nvSpPr>
        <p:spPr>
          <a:xfrm>
            <a:off x="11320272" y="2971800"/>
            <a:ext cx="164592" cy="1371600"/>
          </a:xfrm>
          <a:prstGeom prst="rect">
            <a:avLst/>
          </a:prstGeom>
          <a:solidFill>
            <a:srgbClr val="2A1F1F">
              <a:alpha val="70000"/>
            </a:srgbClr>
          </a:solidFill>
          <a:ln w="12700">
            <a:solidFill>
              <a:srgbClr val="2A1F1F"/>
            </a:solidFill>
            <a:prstDash val="solid"/>
          </a:ln>
        </p:spPr>
        <p:txBody>
          <a:bodyPr/>
          <a:lstStyle/>
          <a:p>
            <a:endParaRPr lang="en-US"/>
          </a:p>
        </p:txBody>
      </p:sp>
      <p:sp>
        <p:nvSpPr>
          <p:cNvPr id="12" name="Shape 10"/>
          <p:cNvSpPr/>
          <p:nvPr/>
        </p:nvSpPr>
        <p:spPr>
          <a:xfrm>
            <a:off x="11612880" y="3337560"/>
            <a:ext cx="164592" cy="640080"/>
          </a:xfrm>
          <a:prstGeom prst="rect">
            <a:avLst/>
          </a:prstGeom>
          <a:solidFill>
            <a:srgbClr val="2A1F1F">
              <a:alpha val="70000"/>
            </a:srgbClr>
          </a:solidFill>
          <a:ln w="12700">
            <a:solidFill>
              <a:srgbClr val="2A1F1F"/>
            </a:solidFill>
            <a:prstDash val="solid"/>
          </a:ln>
        </p:spPr>
        <p:txBody>
          <a:bodyPr/>
          <a:lstStyle/>
          <a:p>
            <a:endParaRPr lang="en-US"/>
          </a:p>
        </p:txBody>
      </p:sp>
      <p:sp>
        <p:nvSpPr>
          <p:cNvPr id="13" name="Shape 11"/>
          <p:cNvSpPr/>
          <p:nvPr/>
        </p:nvSpPr>
        <p:spPr>
          <a:xfrm>
            <a:off x="11905488" y="3063240"/>
            <a:ext cx="164592" cy="1188720"/>
          </a:xfrm>
          <a:prstGeom prst="rect">
            <a:avLst/>
          </a:prstGeom>
          <a:solidFill>
            <a:srgbClr val="2A1F1F">
              <a:alpha val="70000"/>
            </a:srgbClr>
          </a:solidFill>
          <a:ln w="12700">
            <a:solidFill>
              <a:srgbClr val="2A1F1F"/>
            </a:solidFill>
            <a:prstDash val="solid"/>
          </a:ln>
        </p:spPr>
        <p:txBody>
          <a:bodyPr/>
          <a:lstStyle/>
          <a:p>
            <a:endParaRPr lang="en-US"/>
          </a:p>
        </p:txBody>
      </p:sp>
      <p:sp>
        <p:nvSpPr>
          <p:cNvPr id="14" name="Text 12"/>
          <p:cNvSpPr/>
          <p:nvPr/>
        </p:nvSpPr>
        <p:spPr>
          <a:xfrm>
            <a:off x="731520" y="1371600"/>
            <a:ext cx="10058400" cy="274320"/>
          </a:xfrm>
          <a:prstGeom prst="rect">
            <a:avLst/>
          </a:prstGeom>
          <a:noFill/>
          <a:ln/>
        </p:spPr>
        <p:txBody>
          <a:bodyPr wrap="square" lIns="0" tIns="0" rIns="0" bIns="0" rtlCol="0" anchor="ctr"/>
          <a:lstStyle/>
          <a:p>
            <a:pPr marL="0" indent="0">
              <a:buNone/>
            </a:pPr>
            <a:r>
              <a:rPr lang="en-US" sz="1200" b="1" kern="0" spc="600" dirty="0">
                <a:solidFill>
                  <a:srgbClr val="D4A744"/>
                </a:solidFill>
                <a:latin typeface="Calibri" pitchFamily="34" charset="0"/>
                <a:ea typeface="Calibri" pitchFamily="34" charset="-122"/>
                <a:cs typeface="Calibri" pitchFamily="34" charset="-120"/>
              </a:rPr>
              <a:t>LC STATE ANNUAL RESEARCH SYMPOSIUM</a:t>
            </a:r>
            <a:endParaRPr lang="en-US" sz="1200" dirty="0"/>
          </a:p>
        </p:txBody>
      </p:sp>
      <p:sp>
        <p:nvSpPr>
          <p:cNvPr id="15" name="Text 13"/>
          <p:cNvSpPr/>
          <p:nvPr/>
        </p:nvSpPr>
        <p:spPr>
          <a:xfrm>
            <a:off x="731520" y="1828800"/>
            <a:ext cx="10058400" cy="1280160"/>
          </a:xfrm>
          <a:prstGeom prst="rect">
            <a:avLst/>
          </a:prstGeom>
          <a:noFill/>
          <a:ln/>
        </p:spPr>
        <p:txBody>
          <a:bodyPr wrap="square" lIns="0" tIns="0" rIns="0" bIns="0" rtlCol="0" anchor="ctr"/>
          <a:lstStyle/>
          <a:p>
            <a:pPr marL="0" indent="0">
              <a:buNone/>
            </a:pPr>
            <a:r>
              <a:rPr lang="en-US" sz="8000" b="1" dirty="0">
                <a:solidFill>
                  <a:srgbClr val="FFFFFF"/>
                </a:solidFill>
                <a:latin typeface="Georgia" pitchFamily="34" charset="0"/>
                <a:ea typeface="Georgia" pitchFamily="34" charset="-122"/>
                <a:cs typeface="Georgia" pitchFamily="34" charset="-120"/>
              </a:rPr>
              <a:t>AI in 2026</a:t>
            </a:r>
            <a:endParaRPr lang="en-US" sz="8000" dirty="0"/>
          </a:p>
        </p:txBody>
      </p:sp>
      <p:sp>
        <p:nvSpPr>
          <p:cNvPr id="16" name="Text 14"/>
          <p:cNvSpPr/>
          <p:nvPr/>
        </p:nvSpPr>
        <p:spPr>
          <a:xfrm>
            <a:off x="731520" y="3108960"/>
            <a:ext cx="10058400" cy="640080"/>
          </a:xfrm>
          <a:prstGeom prst="rect">
            <a:avLst/>
          </a:prstGeom>
          <a:noFill/>
          <a:ln/>
        </p:spPr>
        <p:txBody>
          <a:bodyPr wrap="square" lIns="0" tIns="0" rIns="0" bIns="0" rtlCol="0" anchor="ctr"/>
          <a:lstStyle/>
          <a:p>
            <a:pPr marL="0" indent="0">
              <a:buNone/>
            </a:pPr>
            <a:r>
              <a:rPr lang="en-US" sz="3600" i="1" dirty="0">
                <a:solidFill>
                  <a:srgbClr val="D4A744"/>
                </a:solidFill>
                <a:latin typeface="Georgia" pitchFamily="34" charset="0"/>
                <a:ea typeface="Georgia" pitchFamily="34" charset="-122"/>
                <a:cs typeface="Georgia" pitchFamily="34" charset="-120"/>
              </a:rPr>
              <a:t>A Practical Overview</a:t>
            </a:r>
            <a:endParaRPr lang="en-US" sz="3600" dirty="0"/>
          </a:p>
        </p:txBody>
      </p:sp>
      <p:sp>
        <p:nvSpPr>
          <p:cNvPr id="17" name="Shape 15"/>
          <p:cNvSpPr/>
          <p:nvPr/>
        </p:nvSpPr>
        <p:spPr>
          <a:xfrm>
            <a:off x="731520" y="4023360"/>
            <a:ext cx="914400" cy="54864"/>
          </a:xfrm>
          <a:prstGeom prst="rect">
            <a:avLst/>
          </a:prstGeom>
          <a:solidFill>
            <a:srgbClr val="D4A744"/>
          </a:solidFill>
          <a:ln w="12700">
            <a:solidFill>
              <a:srgbClr val="D4A744"/>
            </a:solidFill>
            <a:prstDash val="solid"/>
          </a:ln>
        </p:spPr>
        <p:txBody>
          <a:bodyPr/>
          <a:lstStyle/>
          <a:p>
            <a:endParaRPr lang="en-US"/>
          </a:p>
        </p:txBody>
      </p:sp>
      <p:sp>
        <p:nvSpPr>
          <p:cNvPr id="18" name="Text 16"/>
          <p:cNvSpPr/>
          <p:nvPr/>
        </p:nvSpPr>
        <p:spPr>
          <a:xfrm>
            <a:off x="731520" y="4297680"/>
            <a:ext cx="7315200" cy="41148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Joshua L. Rogers</a:t>
            </a:r>
            <a:endParaRPr lang="en-US" sz="2200" dirty="0"/>
          </a:p>
        </p:txBody>
      </p:sp>
      <p:sp>
        <p:nvSpPr>
          <p:cNvPr id="19" name="Text 17"/>
          <p:cNvSpPr/>
          <p:nvPr/>
        </p:nvSpPr>
        <p:spPr>
          <a:xfrm>
            <a:off x="731520" y="4709160"/>
            <a:ext cx="8229600" cy="320040"/>
          </a:xfrm>
          <a:prstGeom prst="rect">
            <a:avLst/>
          </a:prstGeom>
          <a:noFill/>
          <a:ln/>
        </p:spPr>
        <p:txBody>
          <a:bodyPr wrap="square" lIns="0" tIns="0" rIns="0" bIns="0" rtlCol="0" anchor="ctr"/>
          <a:lstStyle/>
          <a:p>
            <a:pPr marL="0" indent="0">
              <a:buNone/>
            </a:pPr>
            <a:r>
              <a:rPr lang="en-US" sz="1400" dirty="0">
                <a:solidFill>
                  <a:srgbClr val="E8E5DD"/>
                </a:solidFill>
                <a:latin typeface="Calibri" pitchFamily="34" charset="0"/>
                <a:ea typeface="Calibri" pitchFamily="34" charset="-122"/>
                <a:cs typeface="Calibri" pitchFamily="34" charset="-120"/>
              </a:rPr>
              <a:t>Associate Professor / Computer Information Technology</a:t>
            </a:r>
            <a:endParaRPr lang="en-US" sz="1400" dirty="0"/>
          </a:p>
        </p:txBody>
      </p:sp>
      <p:sp>
        <p:nvSpPr>
          <p:cNvPr id="20" name="Text 18"/>
          <p:cNvSpPr/>
          <p:nvPr/>
        </p:nvSpPr>
        <p:spPr>
          <a:xfrm>
            <a:off x="731520" y="5029200"/>
            <a:ext cx="8229600" cy="320040"/>
          </a:xfrm>
          <a:prstGeom prst="rect">
            <a:avLst/>
          </a:prstGeom>
          <a:noFill/>
          <a:ln/>
        </p:spPr>
        <p:txBody>
          <a:bodyPr wrap="square" lIns="0" tIns="0" rIns="0" bIns="0" rtlCol="0" anchor="ctr"/>
          <a:lstStyle/>
          <a:p>
            <a:pPr marL="0" indent="0">
              <a:buNone/>
            </a:pPr>
            <a:r>
              <a:rPr lang="en-US" sz="1400" dirty="0">
                <a:solidFill>
                  <a:srgbClr val="9CA3AF"/>
                </a:solidFill>
                <a:latin typeface="Calibri" pitchFamily="34" charset="0"/>
                <a:ea typeface="Calibri" pitchFamily="34" charset="-122"/>
                <a:cs typeface="Calibri" pitchFamily="34" charset="-120"/>
              </a:rPr>
              <a:t>Technical &amp; Industrial Division</a:t>
            </a:r>
            <a:endParaRPr lang="en-US" sz="1400" dirty="0"/>
          </a:p>
        </p:txBody>
      </p:sp>
      <p:sp>
        <p:nvSpPr>
          <p:cNvPr id="21" name="Text 19"/>
          <p:cNvSpPr/>
          <p:nvPr/>
        </p:nvSpPr>
        <p:spPr>
          <a:xfrm>
            <a:off x="731520" y="6035040"/>
            <a:ext cx="45720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MAY 6,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MY AI JOURNEY · SNAPSHOT 1</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AI Dungeon 2 (2019)</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Text 3"/>
          <p:cNvSpPr/>
          <p:nvPr/>
        </p:nvSpPr>
        <p:spPr>
          <a:xfrm>
            <a:off x="548640" y="1554480"/>
            <a:ext cx="10972800" cy="365760"/>
          </a:xfrm>
          <a:prstGeom prst="rect">
            <a:avLst/>
          </a:prstGeom>
          <a:noFill/>
          <a:ln/>
        </p:spPr>
        <p:txBody>
          <a:bodyPr wrap="square" lIns="0" tIns="0" rIns="0" bIns="0" rtlCol="0" anchor="ctr"/>
          <a:lstStyle/>
          <a:p>
            <a:pPr marL="0" indent="0">
              <a:buNone/>
            </a:pPr>
            <a:r>
              <a:rPr lang="en-US" sz="1600" i="1" dirty="0">
                <a:solidFill>
                  <a:srgbClr val="334155"/>
                </a:solidFill>
                <a:latin typeface="Calibri" pitchFamily="34" charset="0"/>
                <a:ea typeface="Calibri" pitchFamily="34" charset="-122"/>
                <a:cs typeface="Calibri" pitchFamily="34" charset="-120"/>
              </a:rPr>
              <a:t>Seven years ago: the first prominent, modern, AI-driven text adventure game.</a:t>
            </a:r>
            <a:endParaRPr lang="en-US" sz="1600" dirty="0"/>
          </a:p>
        </p:txBody>
      </p:sp>
      <p:sp>
        <p:nvSpPr>
          <p:cNvPr id="6" name="Shape 4"/>
          <p:cNvSpPr/>
          <p:nvPr/>
        </p:nvSpPr>
        <p:spPr>
          <a:xfrm>
            <a:off x="548640" y="2194560"/>
            <a:ext cx="7498080" cy="3657600"/>
          </a:xfrm>
          <a:prstGeom prst="rect">
            <a:avLst/>
          </a:prstGeom>
          <a:solidFill>
            <a:srgbClr val="07101A"/>
          </a:solidFill>
          <a:ln w="12700">
            <a:solidFill>
              <a:srgbClr val="9E7B1F"/>
            </a:solidFill>
            <a:prstDash val="solid"/>
          </a:ln>
        </p:spPr>
        <p:txBody>
          <a:bodyPr/>
          <a:lstStyle/>
          <a:p>
            <a:endParaRPr lang="en-US"/>
          </a:p>
        </p:txBody>
      </p:sp>
      <p:sp>
        <p:nvSpPr>
          <p:cNvPr id="7" name="Text 5"/>
          <p:cNvSpPr/>
          <p:nvPr/>
        </p:nvSpPr>
        <p:spPr>
          <a:xfrm>
            <a:off x="777240" y="2331720"/>
            <a:ext cx="7132320" cy="3200400"/>
          </a:xfrm>
          <a:prstGeom prst="rect">
            <a:avLst/>
          </a:prstGeom>
          <a:noFill/>
          <a:ln/>
        </p:spPr>
        <p:txBody>
          <a:bodyPr wrap="square" lIns="0" tIns="0" rIns="0" bIns="0" rtlCol="0" anchor="t"/>
          <a:lstStyle/>
          <a:p>
            <a:pPr marL="0" indent="0">
              <a:buNone/>
            </a:pPr>
            <a:r>
              <a:rPr lang="en-US" sz="1300" b="1" dirty="0">
                <a:solidFill>
                  <a:srgbClr val="D4A744"/>
                </a:solidFill>
                <a:latin typeface="Consolas" pitchFamily="34" charset="0"/>
                <a:ea typeface="Consolas" pitchFamily="34" charset="-122"/>
                <a:cs typeface="Consolas" pitchFamily="34" charset="-120"/>
              </a:rPr>
              <a:t>&gt; enter the tavern</a:t>
            </a:r>
            <a:endParaRPr lang="en-US" sz="1300" dirty="0"/>
          </a:p>
          <a:p>
            <a:pPr marL="0" indent="0">
              <a:buNone/>
            </a:pP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The tavern is dimly lit. A bard plays a festive tune</a:t>
            </a: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in the corner. The bartender looks up at you and asks</a:t>
            </a: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what you want to drink.</a:t>
            </a:r>
            <a:endParaRPr lang="en-US" sz="1300" dirty="0"/>
          </a:p>
          <a:p>
            <a:pPr marL="0" indent="0">
              <a:buNone/>
            </a:pPr>
            <a:endParaRPr lang="en-US" sz="1300" dirty="0"/>
          </a:p>
          <a:p>
            <a:pPr marL="0" indent="0">
              <a:buNone/>
            </a:pPr>
            <a:r>
              <a:rPr lang="en-US" sz="1300" b="1" dirty="0">
                <a:solidFill>
                  <a:srgbClr val="D4A744"/>
                </a:solidFill>
                <a:latin typeface="Consolas" pitchFamily="34" charset="0"/>
                <a:ea typeface="Consolas" pitchFamily="34" charset="-122"/>
                <a:cs typeface="Consolas" pitchFamily="34" charset="-120"/>
              </a:rPr>
              <a:t>&gt; order an ale</a:t>
            </a:r>
            <a:endParaRPr lang="en-US" sz="1300" dirty="0"/>
          </a:p>
          <a:p>
            <a:pPr marL="0" indent="0">
              <a:buNone/>
            </a:pP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You order an ale. The bartender pours the ale.</a:t>
            </a: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The bard plays. You drink the bard.</a:t>
            </a: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The tavern is now a horse. You are also a horse.</a:t>
            </a: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The horse asks what you want to drink the ale the</a:t>
            </a:r>
            <a:endParaRPr lang="en-US" sz="1300" dirty="0"/>
          </a:p>
          <a:p>
            <a:pPr marL="0" indent="0">
              <a:buNone/>
            </a:pPr>
            <a:r>
              <a:rPr lang="en-US" sz="1300" dirty="0">
                <a:solidFill>
                  <a:srgbClr val="E8E5DD"/>
                </a:solidFill>
                <a:latin typeface="Consolas" pitchFamily="34" charset="0"/>
                <a:ea typeface="Consolas" pitchFamily="34" charset="-122"/>
                <a:cs typeface="Consolas" pitchFamily="34" charset="-120"/>
              </a:rPr>
              <a:t>    ale the ale the ale the ale the ale the ale</a:t>
            </a:r>
            <a:endParaRPr lang="en-US" sz="1300" dirty="0"/>
          </a:p>
          <a:p>
            <a:pPr marL="0" indent="0">
              <a:buNone/>
            </a:pPr>
            <a:endParaRPr lang="en-US" sz="1300" dirty="0"/>
          </a:p>
          <a:p>
            <a:pPr marL="0" indent="0">
              <a:buNone/>
            </a:pPr>
            <a:r>
              <a:rPr lang="en-US" sz="1300" b="1" dirty="0">
                <a:solidFill>
                  <a:srgbClr val="D4A744"/>
                </a:solidFill>
                <a:latin typeface="Consolas" pitchFamily="34" charset="0"/>
                <a:ea typeface="Consolas" pitchFamily="34" charset="-122"/>
                <a:cs typeface="Consolas" pitchFamily="34" charset="-120"/>
              </a:rPr>
              <a:t>&gt; No! That didn't happen! Try again!_</a:t>
            </a:r>
            <a:endParaRPr lang="en-US" sz="1300" dirty="0"/>
          </a:p>
        </p:txBody>
      </p:sp>
      <p:sp>
        <p:nvSpPr>
          <p:cNvPr id="8" name="Text 6"/>
          <p:cNvSpPr/>
          <p:nvPr/>
        </p:nvSpPr>
        <p:spPr>
          <a:xfrm>
            <a:off x="777240" y="5532120"/>
            <a:ext cx="7132320" cy="274320"/>
          </a:xfrm>
          <a:prstGeom prst="rect">
            <a:avLst/>
          </a:prstGeom>
          <a:noFill/>
          <a:ln/>
        </p:spPr>
        <p:txBody>
          <a:bodyPr wrap="square" lIns="0" tIns="0" rIns="0" bIns="0" rtlCol="0" anchor="ctr"/>
          <a:lstStyle/>
          <a:p>
            <a:pPr marL="0" indent="0" algn="r">
              <a:buNone/>
            </a:pPr>
            <a:r>
              <a:rPr lang="en-US" sz="1000" i="1" dirty="0">
                <a:solidFill>
                  <a:srgbClr val="9CA3AF"/>
                </a:solidFill>
                <a:latin typeface="Calibri" pitchFamily="34" charset="0"/>
                <a:ea typeface="Calibri" pitchFamily="34" charset="-122"/>
                <a:cs typeface="Calibri" pitchFamily="34" charset="-120"/>
              </a:rPr>
              <a:t>Illustrative example. Captures the era, not actual AI Dungeon 2/GPT-2 output.</a:t>
            </a:r>
            <a:endParaRPr lang="en-US" sz="1000" dirty="0"/>
          </a:p>
        </p:txBody>
      </p:sp>
      <p:sp>
        <p:nvSpPr>
          <p:cNvPr id="9" name="Shape 7"/>
          <p:cNvSpPr/>
          <p:nvPr/>
        </p:nvSpPr>
        <p:spPr>
          <a:xfrm>
            <a:off x="8412480" y="2194560"/>
            <a:ext cx="3200400" cy="3657600"/>
          </a:xfrm>
          <a:prstGeom prst="rect">
            <a:avLst/>
          </a:prstGeom>
          <a:solidFill>
            <a:srgbClr val="F1ECDF"/>
          </a:solidFill>
          <a:ln w="12700">
            <a:solidFill>
              <a:srgbClr val="D4A744"/>
            </a:solidFill>
            <a:prstDash val="solid"/>
          </a:ln>
        </p:spPr>
        <p:txBody>
          <a:bodyPr/>
          <a:lstStyle/>
          <a:p>
            <a:endParaRPr lang="en-US"/>
          </a:p>
        </p:txBody>
      </p:sp>
      <p:sp>
        <p:nvSpPr>
          <p:cNvPr id="10" name="Shape 8"/>
          <p:cNvSpPr/>
          <p:nvPr/>
        </p:nvSpPr>
        <p:spPr>
          <a:xfrm>
            <a:off x="8412480" y="2194560"/>
            <a:ext cx="73152" cy="3657600"/>
          </a:xfrm>
          <a:prstGeom prst="rect">
            <a:avLst/>
          </a:prstGeom>
          <a:solidFill>
            <a:srgbClr val="D4A744"/>
          </a:solidFill>
          <a:ln w="12700">
            <a:solidFill>
              <a:srgbClr val="D4A744"/>
            </a:solidFill>
            <a:prstDash val="solid"/>
          </a:ln>
        </p:spPr>
        <p:txBody>
          <a:bodyPr/>
          <a:lstStyle/>
          <a:p>
            <a:endParaRPr lang="en-US"/>
          </a:p>
        </p:txBody>
      </p:sp>
      <p:sp>
        <p:nvSpPr>
          <p:cNvPr id="11" name="Text 9"/>
          <p:cNvSpPr/>
          <p:nvPr/>
        </p:nvSpPr>
        <p:spPr>
          <a:xfrm>
            <a:off x="8641080" y="2377440"/>
            <a:ext cx="2834640" cy="1188720"/>
          </a:xfrm>
          <a:prstGeom prst="rect">
            <a:avLst/>
          </a:prstGeom>
          <a:noFill/>
          <a:ln/>
        </p:spPr>
        <p:txBody>
          <a:bodyPr wrap="square" lIns="0" tIns="0" rIns="0" bIns="0" rtlCol="0" anchor="ctr"/>
          <a:lstStyle/>
          <a:p>
            <a:pPr marL="0" indent="0">
              <a:buNone/>
            </a:pPr>
            <a:r>
              <a:rPr lang="en-US" sz="1800" b="1" i="1" dirty="0">
                <a:solidFill>
                  <a:srgbClr val="0F1A24"/>
                </a:solidFill>
                <a:latin typeface="Georgia" pitchFamily="34" charset="0"/>
                <a:ea typeface="Georgia" pitchFamily="34" charset="-122"/>
                <a:cs typeface="Georgia" pitchFamily="34" charset="-120"/>
              </a:rPr>
              <a:t>Sometimes coherent.</a:t>
            </a:r>
            <a:endParaRPr lang="en-US" sz="1800" dirty="0"/>
          </a:p>
          <a:p>
            <a:pPr marL="0" indent="0">
              <a:buNone/>
            </a:pPr>
            <a:r>
              <a:rPr lang="en-US" sz="1800" b="1" i="1" dirty="0">
                <a:solidFill>
                  <a:srgbClr val="0F1A24"/>
                </a:solidFill>
                <a:latin typeface="Georgia" pitchFamily="34" charset="0"/>
                <a:ea typeface="Georgia" pitchFamily="34" charset="-122"/>
                <a:cs typeface="Georgia" pitchFamily="34" charset="-120"/>
              </a:rPr>
              <a:t>Often gibberish.</a:t>
            </a:r>
            <a:endParaRPr lang="en-US" sz="1800" dirty="0"/>
          </a:p>
          <a:p>
            <a:pPr marL="0" indent="0">
              <a:buNone/>
            </a:pPr>
            <a:r>
              <a:rPr lang="en-US" sz="1800" b="1" i="1" dirty="0">
                <a:solidFill>
                  <a:srgbClr val="0F1A24"/>
                </a:solidFill>
                <a:latin typeface="Georgia" pitchFamily="34" charset="0"/>
                <a:ea typeface="Georgia" pitchFamily="34" charset="-122"/>
                <a:cs typeface="Georgia" pitchFamily="34" charset="-120"/>
              </a:rPr>
              <a:t>Always entertaining.</a:t>
            </a:r>
            <a:endParaRPr lang="en-US" sz="1800" dirty="0"/>
          </a:p>
        </p:txBody>
      </p:sp>
      <p:sp>
        <p:nvSpPr>
          <p:cNvPr id="12" name="Text 10"/>
          <p:cNvSpPr/>
          <p:nvPr/>
        </p:nvSpPr>
        <p:spPr>
          <a:xfrm>
            <a:off x="8641080" y="4023360"/>
            <a:ext cx="2834640" cy="17373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AI Dungeon 2, powered by OpenAI's GPT-2 model, had a tiny fraction of the capability of today's AI models. It could spin a narrative, sometimes coherently, sometimes by repeating itself into infinity.</a:t>
            </a:r>
            <a:endParaRPr lang="en-US" sz="1200" dirty="0"/>
          </a:p>
        </p:txBody>
      </p:sp>
      <p:sp>
        <p:nvSpPr>
          <p:cNvPr id="13" name="Text 11"/>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14" name="Text 12"/>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MY AI JOURNEY · SNAPSHOT 2</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Claude Code (2026)</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pic>
        <p:nvPicPr>
          <p:cNvPr id="5" name="Image 0" descr="stock_dashboard.png"/>
          <p:cNvPicPr>
            <a:picLocks noChangeAspect="1"/>
          </p:cNvPicPr>
          <p:nvPr/>
        </p:nvPicPr>
        <p:blipFill>
          <a:blip r:embed="rId3"/>
          <a:stretch>
            <a:fillRect/>
          </a:stretch>
        </p:blipFill>
        <p:spPr>
          <a:xfrm>
            <a:off x="548640" y="1600200"/>
            <a:ext cx="8229600" cy="4626864"/>
          </a:xfrm>
          <a:prstGeom prst="rect">
            <a:avLst/>
          </a:prstGeom>
        </p:spPr>
      </p:pic>
      <p:sp>
        <p:nvSpPr>
          <p:cNvPr id="6" name="Shape 3"/>
          <p:cNvSpPr/>
          <p:nvPr/>
        </p:nvSpPr>
        <p:spPr>
          <a:xfrm>
            <a:off x="9052560" y="1600200"/>
            <a:ext cx="2560320" cy="4626864"/>
          </a:xfrm>
          <a:prstGeom prst="rect">
            <a:avLst/>
          </a:prstGeom>
          <a:solidFill>
            <a:srgbClr val="F1ECDF"/>
          </a:solidFill>
          <a:ln w="12700">
            <a:solidFill>
              <a:srgbClr val="D4A744"/>
            </a:solidFill>
            <a:prstDash val="solid"/>
          </a:ln>
        </p:spPr>
        <p:txBody>
          <a:bodyPr/>
          <a:lstStyle/>
          <a:p>
            <a:endParaRPr lang="en-US"/>
          </a:p>
        </p:txBody>
      </p:sp>
      <p:sp>
        <p:nvSpPr>
          <p:cNvPr id="7" name="Shape 4"/>
          <p:cNvSpPr/>
          <p:nvPr/>
        </p:nvSpPr>
        <p:spPr>
          <a:xfrm>
            <a:off x="9052560" y="1600200"/>
            <a:ext cx="73152" cy="4626864"/>
          </a:xfrm>
          <a:prstGeom prst="rect">
            <a:avLst/>
          </a:prstGeom>
          <a:solidFill>
            <a:srgbClr val="D4A744"/>
          </a:solidFill>
          <a:ln w="12700">
            <a:solidFill>
              <a:srgbClr val="D4A744"/>
            </a:solidFill>
            <a:prstDash val="solid"/>
          </a:ln>
        </p:spPr>
        <p:txBody>
          <a:bodyPr/>
          <a:lstStyle/>
          <a:p>
            <a:endParaRPr lang="en-US"/>
          </a:p>
        </p:txBody>
      </p:sp>
      <p:sp>
        <p:nvSpPr>
          <p:cNvPr id="8" name="Text 5"/>
          <p:cNvSpPr/>
          <p:nvPr/>
        </p:nvSpPr>
        <p:spPr>
          <a:xfrm>
            <a:off x="9235440" y="1783080"/>
            <a:ext cx="2286000" cy="1280160"/>
          </a:xfrm>
          <a:prstGeom prst="rect">
            <a:avLst/>
          </a:prstGeom>
          <a:noFill/>
          <a:ln/>
        </p:spPr>
        <p:txBody>
          <a:bodyPr wrap="square" lIns="0" tIns="0" rIns="0" bIns="0" rtlCol="0" anchor="ctr"/>
          <a:lstStyle/>
          <a:p>
            <a:pPr marL="0" indent="0">
              <a:buNone/>
            </a:pPr>
            <a:r>
              <a:rPr lang="en-US" sz="8800" b="1" dirty="0">
                <a:solidFill>
                  <a:srgbClr val="9E7B1F"/>
                </a:solidFill>
                <a:latin typeface="Georgia" pitchFamily="34" charset="0"/>
                <a:ea typeface="Georgia" pitchFamily="34" charset="-122"/>
                <a:cs typeface="Georgia" pitchFamily="34" charset="-120"/>
              </a:rPr>
              <a:t>10</a:t>
            </a:r>
            <a:endParaRPr lang="en-US" sz="8800" dirty="0"/>
          </a:p>
        </p:txBody>
      </p:sp>
      <p:sp>
        <p:nvSpPr>
          <p:cNvPr id="9" name="Text 6"/>
          <p:cNvSpPr/>
          <p:nvPr/>
        </p:nvSpPr>
        <p:spPr>
          <a:xfrm>
            <a:off x="9235440" y="2971800"/>
            <a:ext cx="2286000" cy="274320"/>
          </a:xfrm>
          <a:prstGeom prst="rect">
            <a:avLst/>
          </a:prstGeom>
          <a:noFill/>
          <a:ln/>
        </p:spPr>
        <p:txBody>
          <a:bodyPr wrap="square" lIns="0" tIns="0" rIns="0" bIns="0" rtlCol="0" anchor="ctr"/>
          <a:lstStyle/>
          <a:p>
            <a:pPr marL="0" indent="0">
              <a:buNone/>
            </a:pPr>
            <a:r>
              <a:rPr lang="en-US" sz="1100" b="1" kern="0" spc="600" dirty="0">
                <a:solidFill>
                  <a:srgbClr val="0F1A24"/>
                </a:solidFill>
                <a:latin typeface="Calibri" pitchFamily="34" charset="0"/>
                <a:ea typeface="Calibri" pitchFamily="34" charset="-122"/>
                <a:cs typeface="Calibri" pitchFamily="34" charset="-120"/>
              </a:rPr>
              <a:t>MINUTES</a:t>
            </a:r>
            <a:endParaRPr lang="en-US" sz="1100" dirty="0"/>
          </a:p>
        </p:txBody>
      </p:sp>
      <p:sp>
        <p:nvSpPr>
          <p:cNvPr id="10" name="Shape 7"/>
          <p:cNvSpPr/>
          <p:nvPr/>
        </p:nvSpPr>
        <p:spPr>
          <a:xfrm>
            <a:off x="9235440" y="3429000"/>
            <a:ext cx="365760" cy="27432"/>
          </a:xfrm>
          <a:prstGeom prst="rect">
            <a:avLst/>
          </a:prstGeom>
          <a:solidFill>
            <a:srgbClr val="D4A744"/>
          </a:solidFill>
          <a:ln w="12700">
            <a:solidFill>
              <a:srgbClr val="D4A744"/>
            </a:solidFill>
            <a:prstDash val="solid"/>
          </a:ln>
        </p:spPr>
        <p:txBody>
          <a:bodyPr/>
          <a:lstStyle/>
          <a:p>
            <a:endParaRPr lang="en-US"/>
          </a:p>
        </p:txBody>
      </p:sp>
      <p:sp>
        <p:nvSpPr>
          <p:cNvPr id="11" name="Text 8"/>
          <p:cNvSpPr/>
          <p:nvPr/>
        </p:nvSpPr>
        <p:spPr>
          <a:xfrm>
            <a:off x="9235440" y="3566160"/>
            <a:ext cx="2286000" cy="548640"/>
          </a:xfrm>
          <a:prstGeom prst="rect">
            <a:avLst/>
          </a:prstGeom>
          <a:noFill/>
          <a:ln/>
        </p:spPr>
        <p:txBody>
          <a:bodyPr wrap="square" lIns="0" tIns="0" rIns="0" bIns="0" rtlCol="0" anchor="ctr"/>
          <a:lstStyle/>
          <a:p>
            <a:pPr marL="0" indent="0">
              <a:buNone/>
            </a:pPr>
            <a:r>
              <a:rPr lang="en-US" sz="1300" b="1" dirty="0">
                <a:solidFill>
                  <a:srgbClr val="0F1A24"/>
                </a:solidFill>
                <a:latin typeface="Calibri" pitchFamily="34" charset="0"/>
                <a:ea typeface="Calibri" pitchFamily="34" charset="-122"/>
                <a:cs typeface="Calibri" pitchFamily="34" charset="-120"/>
              </a:rPr>
              <a:t>Zero </a:t>
            </a:r>
            <a:r>
              <a:rPr lang="en-US" sz="1300" dirty="0">
                <a:solidFill>
                  <a:srgbClr val="334155"/>
                </a:solidFill>
                <a:latin typeface="Calibri" pitchFamily="34" charset="0"/>
                <a:ea typeface="Calibri" pitchFamily="34" charset="-122"/>
                <a:cs typeface="Calibri" pitchFamily="34" charset="-120"/>
              </a:rPr>
              <a:t>lines of code written by me.</a:t>
            </a:r>
            <a:endParaRPr lang="en-US" sz="1300" dirty="0"/>
          </a:p>
        </p:txBody>
      </p:sp>
      <p:sp>
        <p:nvSpPr>
          <p:cNvPr id="12" name="Text 9"/>
          <p:cNvSpPr/>
          <p:nvPr/>
        </p:nvSpPr>
        <p:spPr>
          <a:xfrm>
            <a:off x="9235440" y="4251960"/>
            <a:ext cx="2286000" cy="9144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In 2015, this could have been a </a:t>
            </a:r>
            <a:r>
              <a:rPr lang="en-US" sz="1300" b="1" dirty="0">
                <a:solidFill>
                  <a:srgbClr val="0F1A24"/>
                </a:solidFill>
                <a:latin typeface="Calibri" pitchFamily="34" charset="0"/>
                <a:ea typeface="Calibri" pitchFamily="34" charset="-122"/>
                <a:cs typeface="Calibri" pitchFamily="34" charset="-120"/>
              </a:rPr>
              <a:t>semester-long capstone project</a:t>
            </a:r>
            <a:r>
              <a:rPr lang="en-US" sz="1300" dirty="0">
                <a:solidFill>
                  <a:srgbClr val="334155"/>
                </a:solidFill>
                <a:latin typeface="Calibri" pitchFamily="34" charset="0"/>
                <a:ea typeface="Calibri" pitchFamily="34" charset="-122"/>
                <a:cs typeface="Calibri" pitchFamily="34" charset="-120"/>
              </a:rPr>
              <a:t>.</a:t>
            </a:r>
            <a:endParaRPr lang="en-US" sz="1300" dirty="0"/>
          </a:p>
        </p:txBody>
      </p:sp>
      <p:sp>
        <p:nvSpPr>
          <p:cNvPr id="13" name="Text 10"/>
          <p:cNvSpPr/>
          <p:nvPr/>
        </p:nvSpPr>
        <p:spPr>
          <a:xfrm>
            <a:off x="9235440" y="5486400"/>
            <a:ext cx="2286000" cy="457200"/>
          </a:xfrm>
          <a:prstGeom prst="rect">
            <a:avLst/>
          </a:prstGeom>
          <a:noFill/>
          <a:ln/>
        </p:spPr>
        <p:txBody>
          <a:bodyPr wrap="square" lIns="0" tIns="0" rIns="0" bIns="0" rtlCol="0" anchor="ctr"/>
          <a:lstStyle/>
          <a:p>
            <a:pPr marL="0" indent="0">
              <a:buNone/>
            </a:pPr>
            <a:r>
              <a:rPr lang="en-US" sz="1600" b="1" i="1" dirty="0">
                <a:solidFill>
                  <a:srgbClr val="0F1A24"/>
                </a:solidFill>
                <a:latin typeface="Georgia" pitchFamily="34" charset="0"/>
                <a:ea typeface="Georgia" pitchFamily="34" charset="-122"/>
                <a:cs typeface="Georgia" pitchFamily="34" charset="-120"/>
              </a:rPr>
              <a:t>Last month,</a:t>
            </a:r>
          </a:p>
          <a:p>
            <a:pPr marL="0" indent="0">
              <a:buNone/>
            </a:pPr>
            <a:r>
              <a:rPr lang="en-US" sz="1600" b="1" i="1" dirty="0">
                <a:solidFill>
                  <a:srgbClr val="0F1A24"/>
                </a:solidFill>
                <a:latin typeface="Georgia" pitchFamily="34" charset="0"/>
                <a:ea typeface="Georgia" pitchFamily="34" charset="-122"/>
                <a:cs typeface="Georgia" pitchFamily="34" charset="-120"/>
              </a:rPr>
              <a:t>over lunch.</a:t>
            </a:r>
            <a:endParaRPr lang="en-US" sz="1600" dirty="0"/>
          </a:p>
        </p:txBody>
      </p:sp>
      <p:sp>
        <p:nvSpPr>
          <p:cNvPr id="14" name="Text 11"/>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15" name="Text 12"/>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MY AI JOURNEY · COMPARISON</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AI Dungeon 2 vs. Claude Code</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Shape 3"/>
          <p:cNvSpPr/>
          <p:nvPr/>
        </p:nvSpPr>
        <p:spPr>
          <a:xfrm>
            <a:off x="548640" y="1691640"/>
            <a:ext cx="5349240" cy="3657600"/>
          </a:xfrm>
          <a:prstGeom prst="rect">
            <a:avLst/>
          </a:prstGeom>
          <a:solidFill>
            <a:srgbClr val="FFFFFF"/>
          </a:solidFill>
          <a:ln w="12700">
            <a:solidFill>
              <a:srgbClr val="E2E8F0"/>
            </a:solidFill>
            <a:prstDash val="solid"/>
          </a:ln>
        </p:spPr>
        <p:txBody>
          <a:bodyPr/>
          <a:lstStyle/>
          <a:p>
            <a:endParaRPr lang="en-US"/>
          </a:p>
        </p:txBody>
      </p:sp>
      <p:sp>
        <p:nvSpPr>
          <p:cNvPr id="6" name="Shape 4"/>
          <p:cNvSpPr/>
          <p:nvPr/>
        </p:nvSpPr>
        <p:spPr>
          <a:xfrm>
            <a:off x="548640" y="1691640"/>
            <a:ext cx="5349240" cy="73152"/>
          </a:xfrm>
          <a:prstGeom prst="rect">
            <a:avLst/>
          </a:prstGeom>
          <a:solidFill>
            <a:srgbClr val="D4A744"/>
          </a:solidFill>
          <a:ln w="12700">
            <a:solidFill>
              <a:srgbClr val="D4A744"/>
            </a:solidFill>
            <a:prstDash val="solid"/>
          </a:ln>
        </p:spPr>
        <p:txBody>
          <a:bodyPr/>
          <a:lstStyle/>
          <a:p>
            <a:endParaRPr lang="en-US"/>
          </a:p>
        </p:txBody>
      </p:sp>
      <p:sp>
        <p:nvSpPr>
          <p:cNvPr id="7" name="Text 5"/>
          <p:cNvSpPr/>
          <p:nvPr/>
        </p:nvSpPr>
        <p:spPr>
          <a:xfrm>
            <a:off x="914400" y="2011680"/>
            <a:ext cx="4617720" cy="320040"/>
          </a:xfrm>
          <a:prstGeom prst="rect">
            <a:avLst/>
          </a:prstGeom>
          <a:noFill/>
          <a:ln/>
        </p:spPr>
        <p:txBody>
          <a:bodyPr wrap="square" lIns="0" tIns="0" rIns="0" bIns="0" rtlCol="0" anchor="ctr"/>
          <a:lstStyle/>
          <a:p>
            <a:pPr marL="0" indent="0">
              <a:buNone/>
            </a:pPr>
            <a:r>
              <a:rPr lang="en-US" sz="1200" b="1" kern="0" spc="500" dirty="0">
                <a:solidFill>
                  <a:srgbClr val="9E7B1F"/>
                </a:solidFill>
                <a:latin typeface="Calibri" pitchFamily="34" charset="0"/>
                <a:ea typeface="Calibri" pitchFamily="34" charset="-122"/>
                <a:cs typeface="Calibri" pitchFamily="34" charset="-120"/>
              </a:rPr>
              <a:t>DEC 2019</a:t>
            </a:r>
            <a:endParaRPr lang="en-US" sz="1200" dirty="0"/>
          </a:p>
        </p:txBody>
      </p:sp>
      <p:sp>
        <p:nvSpPr>
          <p:cNvPr id="8" name="Text 6"/>
          <p:cNvSpPr/>
          <p:nvPr/>
        </p:nvSpPr>
        <p:spPr>
          <a:xfrm>
            <a:off x="914400" y="2377440"/>
            <a:ext cx="4617720" cy="502920"/>
          </a:xfrm>
          <a:prstGeom prst="rect">
            <a:avLst/>
          </a:prstGeom>
          <a:noFill/>
          <a:ln/>
        </p:spPr>
        <p:txBody>
          <a:bodyPr wrap="square" lIns="0" tIns="0" rIns="0" bIns="0" rtlCol="0" anchor="ctr"/>
          <a:lstStyle/>
          <a:p>
            <a:pPr marL="0" indent="0">
              <a:buNone/>
            </a:pPr>
            <a:r>
              <a:rPr lang="en-US" sz="2800" b="1" dirty="0">
                <a:solidFill>
                  <a:srgbClr val="0F1A24"/>
                </a:solidFill>
                <a:latin typeface="Georgia" pitchFamily="34" charset="0"/>
                <a:ea typeface="Georgia" pitchFamily="34" charset="-122"/>
                <a:cs typeface="Georgia" pitchFamily="34" charset="-120"/>
              </a:rPr>
              <a:t>AI Dungeon 2</a:t>
            </a:r>
            <a:endParaRPr lang="en-US" sz="2800" dirty="0"/>
          </a:p>
        </p:txBody>
      </p:sp>
      <p:sp>
        <p:nvSpPr>
          <p:cNvPr id="9" name="Text 7"/>
          <p:cNvSpPr/>
          <p:nvPr/>
        </p:nvSpPr>
        <p:spPr>
          <a:xfrm>
            <a:off x="914400" y="2880360"/>
            <a:ext cx="461772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Powered by OpenAI’s </a:t>
            </a:r>
            <a:r>
              <a:rPr lang="en-US" sz="1400" b="1" i="1" dirty="0">
                <a:solidFill>
                  <a:srgbClr val="64748B"/>
                </a:solidFill>
                <a:latin typeface="Calibri" pitchFamily="34" charset="0"/>
                <a:ea typeface="Calibri" pitchFamily="34" charset="-122"/>
                <a:cs typeface="Calibri" pitchFamily="34" charset="-120"/>
              </a:rPr>
              <a:t>GPT-2</a:t>
            </a:r>
            <a:endParaRPr lang="en-US" sz="1400" b="1" dirty="0"/>
          </a:p>
        </p:txBody>
      </p:sp>
      <p:sp>
        <p:nvSpPr>
          <p:cNvPr id="10" name="Shape 8"/>
          <p:cNvSpPr/>
          <p:nvPr/>
        </p:nvSpPr>
        <p:spPr>
          <a:xfrm>
            <a:off x="914400" y="3383280"/>
            <a:ext cx="365760" cy="27432"/>
          </a:xfrm>
          <a:prstGeom prst="rect">
            <a:avLst/>
          </a:prstGeom>
          <a:solidFill>
            <a:srgbClr val="D4A744"/>
          </a:solidFill>
          <a:ln w="12700">
            <a:solidFill>
              <a:srgbClr val="D4A744"/>
            </a:solidFill>
            <a:prstDash val="solid"/>
          </a:ln>
        </p:spPr>
        <p:txBody>
          <a:bodyPr/>
          <a:lstStyle/>
          <a:p>
            <a:endParaRPr lang="en-US"/>
          </a:p>
        </p:txBody>
      </p:sp>
      <p:sp>
        <p:nvSpPr>
          <p:cNvPr id="11" name="Text 9"/>
          <p:cNvSpPr/>
          <p:nvPr/>
        </p:nvSpPr>
        <p:spPr>
          <a:xfrm>
            <a:off x="914400" y="3566160"/>
            <a:ext cx="4617720" cy="27432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CONTEXT WINDOW</a:t>
            </a:r>
            <a:endParaRPr lang="en-US" sz="1100" dirty="0"/>
          </a:p>
        </p:txBody>
      </p:sp>
      <p:sp>
        <p:nvSpPr>
          <p:cNvPr id="12" name="Text 10"/>
          <p:cNvSpPr/>
          <p:nvPr/>
        </p:nvSpPr>
        <p:spPr>
          <a:xfrm>
            <a:off x="914400" y="3840480"/>
            <a:ext cx="4617720" cy="411480"/>
          </a:xfrm>
          <a:prstGeom prst="rect">
            <a:avLst/>
          </a:prstGeom>
          <a:noFill/>
          <a:ln/>
        </p:spPr>
        <p:txBody>
          <a:bodyPr wrap="square" lIns="0" tIns="0" rIns="0" bIns="0" rtlCol="0" anchor="ctr"/>
          <a:lstStyle/>
          <a:p>
            <a:pPr marL="0" indent="0">
              <a:buNone/>
            </a:pPr>
            <a:r>
              <a:rPr lang="en-US" sz="1800" b="1" dirty="0">
                <a:solidFill>
                  <a:srgbClr val="0F1A24"/>
                </a:solidFill>
                <a:latin typeface="Calibri" pitchFamily="34" charset="0"/>
                <a:ea typeface="Calibri" pitchFamily="34" charset="-122"/>
                <a:cs typeface="Calibri" pitchFamily="34" charset="-120"/>
              </a:rPr>
              <a:t>1,024 </a:t>
            </a:r>
            <a:r>
              <a:rPr lang="en-US" sz="1800" dirty="0">
                <a:solidFill>
                  <a:srgbClr val="0F1A24"/>
                </a:solidFill>
                <a:latin typeface="Calibri" pitchFamily="34" charset="0"/>
                <a:ea typeface="Calibri" pitchFamily="34" charset="-122"/>
                <a:cs typeface="Calibri" pitchFamily="34" charset="-120"/>
              </a:rPr>
              <a:t>tokens  </a:t>
            </a:r>
            <a:r>
              <a:rPr lang="en-US" sz="1800" i="1" dirty="0">
                <a:solidFill>
                  <a:srgbClr val="64748B"/>
                </a:solidFill>
                <a:latin typeface="Calibri" pitchFamily="34" charset="0"/>
                <a:ea typeface="Calibri" pitchFamily="34" charset="-122"/>
                <a:cs typeface="Calibri" pitchFamily="34" charset="-120"/>
              </a:rPr>
              <a:t>≈ 750 words</a:t>
            </a:r>
            <a:endParaRPr lang="en-US" sz="1800" dirty="0"/>
          </a:p>
        </p:txBody>
      </p:sp>
      <p:sp>
        <p:nvSpPr>
          <p:cNvPr id="13" name="Text 11"/>
          <p:cNvSpPr/>
          <p:nvPr/>
        </p:nvSpPr>
        <p:spPr>
          <a:xfrm>
            <a:off x="914400" y="4389120"/>
            <a:ext cx="4617720" cy="274320"/>
          </a:xfrm>
          <a:prstGeom prst="rect">
            <a:avLst/>
          </a:prstGeom>
          <a:noFill/>
          <a:ln/>
        </p:spPr>
        <p:txBody>
          <a:bodyPr wrap="square" lIns="0" tIns="0" rIns="0" bIns="0" rtlCol="0" anchor="ctr"/>
          <a:lstStyle/>
          <a:p>
            <a:pPr marL="0" indent="0">
              <a:buNone/>
            </a:pPr>
            <a:r>
              <a:rPr lang="en-US" sz="1100" b="1" kern="0" spc="300" dirty="0">
                <a:solidFill>
                  <a:srgbClr val="64748B"/>
                </a:solidFill>
                <a:latin typeface="Calibri" pitchFamily="34" charset="0"/>
                <a:ea typeface="Calibri" pitchFamily="34" charset="-122"/>
                <a:cs typeface="Calibri" pitchFamily="34" charset="-120"/>
              </a:rPr>
              <a:t>MAX OUTPUT</a:t>
            </a:r>
            <a:endParaRPr lang="en-US" sz="1100" dirty="0"/>
          </a:p>
        </p:txBody>
      </p:sp>
      <p:sp>
        <p:nvSpPr>
          <p:cNvPr id="14" name="Text 12"/>
          <p:cNvSpPr/>
          <p:nvPr/>
        </p:nvSpPr>
        <p:spPr>
          <a:xfrm>
            <a:off x="914400" y="4663440"/>
            <a:ext cx="4617720" cy="411480"/>
          </a:xfrm>
          <a:prstGeom prst="rect">
            <a:avLst/>
          </a:prstGeom>
          <a:noFill/>
          <a:ln/>
        </p:spPr>
        <p:txBody>
          <a:bodyPr wrap="square" lIns="0" tIns="0" rIns="0" bIns="0" rtlCol="0" anchor="ctr"/>
          <a:lstStyle/>
          <a:p>
            <a:pPr marL="0" indent="0">
              <a:buNone/>
            </a:pPr>
            <a:r>
              <a:rPr lang="en-US" sz="1800" b="1" dirty="0">
                <a:solidFill>
                  <a:srgbClr val="0F1A24"/>
                </a:solidFill>
                <a:latin typeface="Calibri" pitchFamily="34" charset="0"/>
                <a:ea typeface="Calibri" pitchFamily="34" charset="-122"/>
                <a:cs typeface="Calibri" pitchFamily="34" charset="-120"/>
              </a:rPr>
              <a:t>100 </a:t>
            </a:r>
            <a:r>
              <a:rPr lang="en-US" sz="1800" dirty="0">
                <a:solidFill>
                  <a:srgbClr val="0F1A24"/>
                </a:solidFill>
                <a:latin typeface="Calibri" pitchFamily="34" charset="0"/>
                <a:ea typeface="Calibri" pitchFamily="34" charset="-122"/>
                <a:cs typeface="Calibri" pitchFamily="34" charset="-120"/>
              </a:rPr>
              <a:t>tokens  </a:t>
            </a:r>
            <a:r>
              <a:rPr lang="en-US" sz="1800" i="1" dirty="0">
                <a:solidFill>
                  <a:srgbClr val="64748B"/>
                </a:solidFill>
                <a:latin typeface="Calibri" pitchFamily="34" charset="0"/>
                <a:ea typeface="Calibri" pitchFamily="34" charset="-122"/>
                <a:cs typeface="Calibri" pitchFamily="34" charset="-120"/>
              </a:rPr>
              <a:t>≈ 75 words</a:t>
            </a:r>
            <a:endParaRPr lang="en-US" sz="1800" dirty="0"/>
          </a:p>
        </p:txBody>
      </p:sp>
      <p:sp>
        <p:nvSpPr>
          <p:cNvPr id="15" name="Shape 13"/>
          <p:cNvSpPr/>
          <p:nvPr/>
        </p:nvSpPr>
        <p:spPr>
          <a:xfrm>
            <a:off x="6263640" y="1691640"/>
            <a:ext cx="5349240" cy="3657600"/>
          </a:xfrm>
          <a:prstGeom prst="rect">
            <a:avLst/>
          </a:prstGeom>
          <a:solidFill>
            <a:srgbClr val="0F1A24"/>
          </a:solidFill>
          <a:ln w="12700">
            <a:solidFill>
              <a:srgbClr val="0F1A24"/>
            </a:solidFill>
            <a:prstDash val="solid"/>
          </a:ln>
        </p:spPr>
        <p:txBody>
          <a:bodyPr/>
          <a:lstStyle/>
          <a:p>
            <a:endParaRPr lang="en-US" dirty="0"/>
          </a:p>
        </p:txBody>
      </p:sp>
      <p:sp>
        <p:nvSpPr>
          <p:cNvPr id="16" name="Shape 14"/>
          <p:cNvSpPr/>
          <p:nvPr/>
        </p:nvSpPr>
        <p:spPr>
          <a:xfrm>
            <a:off x="6263640" y="1691640"/>
            <a:ext cx="5349240" cy="73152"/>
          </a:xfrm>
          <a:prstGeom prst="rect">
            <a:avLst/>
          </a:prstGeom>
          <a:solidFill>
            <a:srgbClr val="D4A744"/>
          </a:solidFill>
          <a:ln w="12700">
            <a:solidFill>
              <a:srgbClr val="D4A744"/>
            </a:solidFill>
            <a:prstDash val="solid"/>
          </a:ln>
        </p:spPr>
        <p:txBody>
          <a:bodyPr/>
          <a:lstStyle/>
          <a:p>
            <a:endParaRPr lang="en-US"/>
          </a:p>
        </p:txBody>
      </p:sp>
      <p:sp>
        <p:nvSpPr>
          <p:cNvPr id="17" name="Text 15"/>
          <p:cNvSpPr/>
          <p:nvPr/>
        </p:nvSpPr>
        <p:spPr>
          <a:xfrm>
            <a:off x="6629400" y="2011680"/>
            <a:ext cx="4617720" cy="320040"/>
          </a:xfrm>
          <a:prstGeom prst="rect">
            <a:avLst/>
          </a:prstGeom>
          <a:noFill/>
          <a:ln/>
        </p:spPr>
        <p:txBody>
          <a:bodyPr wrap="square" lIns="0" tIns="0" rIns="0" bIns="0" rtlCol="0" anchor="ctr"/>
          <a:lstStyle/>
          <a:p>
            <a:pPr marL="0" indent="0">
              <a:buNone/>
            </a:pPr>
            <a:r>
              <a:rPr lang="en-US" sz="1200" b="1" kern="0" spc="500" dirty="0">
                <a:solidFill>
                  <a:srgbClr val="D4A744"/>
                </a:solidFill>
                <a:latin typeface="Calibri" pitchFamily="34" charset="0"/>
                <a:ea typeface="Calibri" pitchFamily="34" charset="-122"/>
                <a:cs typeface="Calibri" pitchFamily="34" charset="-120"/>
              </a:rPr>
              <a:t>APRIL 2026</a:t>
            </a:r>
            <a:endParaRPr lang="en-US" sz="1200" dirty="0"/>
          </a:p>
        </p:txBody>
      </p:sp>
      <p:sp>
        <p:nvSpPr>
          <p:cNvPr id="18" name="Text 16"/>
          <p:cNvSpPr/>
          <p:nvPr/>
        </p:nvSpPr>
        <p:spPr>
          <a:xfrm>
            <a:off x="6629400" y="2377440"/>
            <a:ext cx="4617720" cy="50292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Claude Code</a:t>
            </a:r>
            <a:endParaRPr lang="en-US" sz="2800" dirty="0"/>
          </a:p>
        </p:txBody>
      </p:sp>
      <p:sp>
        <p:nvSpPr>
          <p:cNvPr id="19" name="Text 17"/>
          <p:cNvSpPr/>
          <p:nvPr/>
        </p:nvSpPr>
        <p:spPr>
          <a:xfrm>
            <a:off x="6629400" y="2880360"/>
            <a:ext cx="4617720" cy="320040"/>
          </a:xfrm>
          <a:prstGeom prst="rect">
            <a:avLst/>
          </a:prstGeom>
          <a:noFill/>
          <a:ln/>
        </p:spPr>
        <p:txBody>
          <a:bodyPr wrap="square" lIns="0" tIns="0" rIns="0" bIns="0" rtlCol="0" anchor="ctr"/>
          <a:lstStyle/>
          <a:p>
            <a:pPr marL="0" indent="0">
              <a:buNone/>
            </a:pPr>
            <a:r>
              <a:rPr lang="en-US" sz="1400" i="1" dirty="0">
                <a:solidFill>
                  <a:srgbClr val="9CA3AF"/>
                </a:solidFill>
                <a:latin typeface="Calibri" pitchFamily="34" charset="0"/>
                <a:ea typeface="Calibri" pitchFamily="34" charset="-122"/>
                <a:cs typeface="Calibri" pitchFamily="34" charset="-120"/>
              </a:rPr>
              <a:t>Powered by Anthropic’s </a:t>
            </a:r>
            <a:r>
              <a:rPr lang="en-US" sz="1400" b="1" i="1" dirty="0">
                <a:solidFill>
                  <a:srgbClr val="9CA3AF"/>
                </a:solidFill>
                <a:latin typeface="Calibri" pitchFamily="34" charset="0"/>
                <a:ea typeface="Calibri" pitchFamily="34" charset="-122"/>
                <a:cs typeface="Calibri" pitchFamily="34" charset="-120"/>
              </a:rPr>
              <a:t>Claude Opus 4.7</a:t>
            </a:r>
            <a:endParaRPr lang="en-US" sz="1400" b="1" dirty="0"/>
          </a:p>
        </p:txBody>
      </p:sp>
      <p:sp>
        <p:nvSpPr>
          <p:cNvPr id="20" name="Shape 18"/>
          <p:cNvSpPr/>
          <p:nvPr/>
        </p:nvSpPr>
        <p:spPr>
          <a:xfrm>
            <a:off x="6629400" y="3383280"/>
            <a:ext cx="365760" cy="27432"/>
          </a:xfrm>
          <a:prstGeom prst="rect">
            <a:avLst/>
          </a:prstGeom>
          <a:solidFill>
            <a:srgbClr val="D4A744"/>
          </a:solidFill>
          <a:ln w="12700">
            <a:solidFill>
              <a:srgbClr val="D4A744"/>
            </a:solidFill>
            <a:prstDash val="solid"/>
          </a:ln>
        </p:spPr>
        <p:txBody>
          <a:bodyPr/>
          <a:lstStyle/>
          <a:p>
            <a:endParaRPr lang="en-US"/>
          </a:p>
        </p:txBody>
      </p:sp>
      <p:sp>
        <p:nvSpPr>
          <p:cNvPr id="21" name="Text 19"/>
          <p:cNvSpPr/>
          <p:nvPr/>
        </p:nvSpPr>
        <p:spPr>
          <a:xfrm>
            <a:off x="6629400" y="3566160"/>
            <a:ext cx="4617720" cy="274320"/>
          </a:xfrm>
          <a:prstGeom prst="rect">
            <a:avLst/>
          </a:prstGeom>
          <a:noFill/>
          <a:ln/>
        </p:spPr>
        <p:txBody>
          <a:bodyPr wrap="square" lIns="0" tIns="0" rIns="0" bIns="0" rtlCol="0" anchor="ctr"/>
          <a:lstStyle/>
          <a:p>
            <a:pPr marL="0" indent="0">
              <a:buNone/>
            </a:pPr>
            <a:r>
              <a:rPr lang="en-US" sz="1100" b="1" kern="0" spc="300" dirty="0">
                <a:solidFill>
                  <a:srgbClr val="D4A744"/>
                </a:solidFill>
                <a:latin typeface="Calibri" pitchFamily="34" charset="0"/>
                <a:ea typeface="Calibri" pitchFamily="34" charset="-122"/>
                <a:cs typeface="Calibri" pitchFamily="34" charset="-120"/>
              </a:rPr>
              <a:t>CONTEXT WINDOW</a:t>
            </a:r>
            <a:endParaRPr lang="en-US" sz="1100" dirty="0"/>
          </a:p>
        </p:txBody>
      </p:sp>
      <p:sp>
        <p:nvSpPr>
          <p:cNvPr id="22" name="Text 20"/>
          <p:cNvSpPr/>
          <p:nvPr/>
        </p:nvSpPr>
        <p:spPr>
          <a:xfrm>
            <a:off x="6629400" y="3840480"/>
            <a:ext cx="461772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1,000,000 </a:t>
            </a:r>
            <a:r>
              <a:rPr lang="en-US" sz="1800" dirty="0">
                <a:solidFill>
                  <a:srgbClr val="E8E5DD"/>
                </a:solidFill>
                <a:latin typeface="Calibri" pitchFamily="34" charset="0"/>
                <a:ea typeface="Calibri" pitchFamily="34" charset="-122"/>
                <a:cs typeface="Calibri" pitchFamily="34" charset="-120"/>
              </a:rPr>
              <a:t>tokens  </a:t>
            </a:r>
            <a:r>
              <a:rPr lang="en-US" sz="1800" i="1" dirty="0">
                <a:solidFill>
                  <a:srgbClr val="D4A744"/>
                </a:solidFill>
                <a:latin typeface="Calibri" pitchFamily="34" charset="0"/>
                <a:ea typeface="Calibri" pitchFamily="34" charset="-122"/>
                <a:cs typeface="Calibri" pitchFamily="34" charset="-120"/>
              </a:rPr>
              <a:t>≈ 750,000 words</a:t>
            </a:r>
            <a:endParaRPr lang="en-US" sz="1800" dirty="0"/>
          </a:p>
        </p:txBody>
      </p:sp>
      <p:sp>
        <p:nvSpPr>
          <p:cNvPr id="23" name="Text 21"/>
          <p:cNvSpPr/>
          <p:nvPr/>
        </p:nvSpPr>
        <p:spPr>
          <a:xfrm>
            <a:off x="6629400" y="4389120"/>
            <a:ext cx="4617720" cy="274320"/>
          </a:xfrm>
          <a:prstGeom prst="rect">
            <a:avLst/>
          </a:prstGeom>
          <a:noFill/>
          <a:ln/>
        </p:spPr>
        <p:txBody>
          <a:bodyPr wrap="square" lIns="0" tIns="0" rIns="0" bIns="0" rtlCol="0" anchor="ctr"/>
          <a:lstStyle/>
          <a:p>
            <a:pPr marL="0" indent="0">
              <a:buNone/>
            </a:pPr>
            <a:r>
              <a:rPr lang="en-US" sz="1100" b="1" kern="0" spc="300" dirty="0">
                <a:solidFill>
                  <a:srgbClr val="D4A744"/>
                </a:solidFill>
                <a:latin typeface="Calibri" pitchFamily="34" charset="0"/>
                <a:ea typeface="Calibri" pitchFamily="34" charset="-122"/>
                <a:cs typeface="Calibri" pitchFamily="34" charset="-120"/>
              </a:rPr>
              <a:t>MAX OUTPUT</a:t>
            </a:r>
            <a:endParaRPr lang="en-US" sz="1100" dirty="0"/>
          </a:p>
        </p:txBody>
      </p:sp>
      <p:sp>
        <p:nvSpPr>
          <p:cNvPr id="24" name="Text 22"/>
          <p:cNvSpPr/>
          <p:nvPr/>
        </p:nvSpPr>
        <p:spPr>
          <a:xfrm>
            <a:off x="6629400" y="4663440"/>
            <a:ext cx="461772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128,000 </a:t>
            </a:r>
            <a:r>
              <a:rPr lang="en-US" sz="1800" dirty="0">
                <a:solidFill>
                  <a:srgbClr val="E8E5DD"/>
                </a:solidFill>
                <a:latin typeface="Calibri" pitchFamily="34" charset="0"/>
                <a:ea typeface="Calibri" pitchFamily="34" charset="-122"/>
                <a:cs typeface="Calibri" pitchFamily="34" charset="-120"/>
              </a:rPr>
              <a:t>tokens  </a:t>
            </a:r>
            <a:r>
              <a:rPr lang="en-US" sz="1800" i="1" dirty="0">
                <a:solidFill>
                  <a:srgbClr val="D4A744"/>
                </a:solidFill>
                <a:latin typeface="Calibri" pitchFamily="34" charset="0"/>
                <a:ea typeface="Calibri" pitchFamily="34" charset="-122"/>
                <a:cs typeface="Calibri" pitchFamily="34" charset="-120"/>
              </a:rPr>
              <a:t>≈ 96,000 words</a:t>
            </a:r>
            <a:endParaRPr lang="en-US" sz="1800" dirty="0"/>
          </a:p>
        </p:txBody>
      </p:sp>
      <p:sp>
        <p:nvSpPr>
          <p:cNvPr id="25" name="Shape 23"/>
          <p:cNvSpPr/>
          <p:nvPr/>
        </p:nvSpPr>
        <p:spPr>
          <a:xfrm>
            <a:off x="548640" y="5623560"/>
            <a:ext cx="11064240" cy="777240"/>
          </a:xfrm>
          <a:prstGeom prst="rect">
            <a:avLst/>
          </a:prstGeom>
          <a:solidFill>
            <a:srgbClr val="F1ECDF"/>
          </a:solidFill>
          <a:ln w="12700">
            <a:solidFill>
              <a:srgbClr val="D4A744"/>
            </a:solidFill>
            <a:prstDash val="solid"/>
          </a:ln>
        </p:spPr>
        <p:txBody>
          <a:bodyPr/>
          <a:lstStyle/>
          <a:p>
            <a:endParaRPr lang="en-US"/>
          </a:p>
        </p:txBody>
      </p:sp>
      <p:sp>
        <p:nvSpPr>
          <p:cNvPr id="26" name="Shape 24"/>
          <p:cNvSpPr/>
          <p:nvPr/>
        </p:nvSpPr>
        <p:spPr>
          <a:xfrm>
            <a:off x="548640" y="5623560"/>
            <a:ext cx="73152" cy="777240"/>
          </a:xfrm>
          <a:prstGeom prst="rect">
            <a:avLst/>
          </a:prstGeom>
          <a:solidFill>
            <a:srgbClr val="D4A744"/>
          </a:solidFill>
          <a:ln w="12700">
            <a:solidFill>
              <a:srgbClr val="D4A744"/>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777240" y="5806440"/>
            <a:ext cx="411480" cy="411480"/>
          </a:xfrm>
          <a:prstGeom prst="rect">
            <a:avLst/>
          </a:prstGeom>
        </p:spPr>
      </p:pic>
      <p:sp>
        <p:nvSpPr>
          <p:cNvPr id="28" name="Text 25"/>
          <p:cNvSpPr/>
          <p:nvPr/>
        </p:nvSpPr>
        <p:spPr>
          <a:xfrm>
            <a:off x="1371600" y="5669280"/>
            <a:ext cx="10058400" cy="685800"/>
          </a:xfrm>
          <a:prstGeom prst="rect">
            <a:avLst/>
          </a:prstGeom>
          <a:noFill/>
          <a:ln/>
        </p:spPr>
        <p:txBody>
          <a:bodyPr wrap="square" lIns="0" tIns="0" rIns="0" bIns="0" rtlCol="0" anchor="ctr"/>
          <a:lstStyle/>
          <a:p>
            <a:pPr marL="0" indent="0">
              <a:buNone/>
            </a:pPr>
            <a:r>
              <a:rPr lang="en-US" sz="1400" b="1" kern="0" spc="300" dirty="0">
                <a:solidFill>
                  <a:srgbClr val="9E7B1F"/>
                </a:solidFill>
                <a:latin typeface="Calibri" pitchFamily="34" charset="0"/>
                <a:ea typeface="Calibri" pitchFamily="34" charset="-122"/>
                <a:cs typeface="Calibri" pitchFamily="34" charset="-120"/>
              </a:rPr>
              <a:t>FOR SCALE: </a:t>
            </a:r>
            <a:r>
              <a:rPr lang="en-US" sz="1400" dirty="0">
                <a:solidFill>
                  <a:srgbClr val="0F1A24"/>
                </a:solidFill>
                <a:latin typeface="Calibri" pitchFamily="34" charset="0"/>
                <a:ea typeface="Calibri" pitchFamily="34" charset="-122"/>
                <a:cs typeface="Calibri" pitchFamily="34" charset="-120"/>
              </a:rPr>
              <a:t>The entire </a:t>
            </a:r>
            <a:r>
              <a:rPr lang="en-US" sz="1400" b="1" i="1" dirty="0">
                <a:solidFill>
                  <a:srgbClr val="0F1A24"/>
                </a:solidFill>
                <a:latin typeface="Calibri" pitchFamily="34" charset="0"/>
                <a:ea typeface="Calibri" pitchFamily="34" charset="-122"/>
                <a:cs typeface="Calibri" pitchFamily="34" charset="-120"/>
              </a:rPr>
              <a:t>Lord of the Rings </a:t>
            </a:r>
            <a:r>
              <a:rPr lang="en-US" sz="1400" dirty="0">
                <a:solidFill>
                  <a:srgbClr val="0F1A24"/>
                </a:solidFill>
                <a:latin typeface="Calibri" pitchFamily="34" charset="0"/>
                <a:ea typeface="Calibri" pitchFamily="34" charset="-122"/>
                <a:cs typeface="Calibri" pitchFamily="34" charset="-120"/>
              </a:rPr>
              <a:t>trilogy is about </a:t>
            </a:r>
            <a:r>
              <a:rPr lang="en-US" sz="1400" b="1" dirty="0">
                <a:solidFill>
                  <a:srgbClr val="0F1A24"/>
                </a:solidFill>
                <a:latin typeface="Calibri" pitchFamily="34" charset="0"/>
                <a:ea typeface="Calibri" pitchFamily="34" charset="-122"/>
                <a:cs typeface="Calibri" pitchFamily="34" charset="-120"/>
              </a:rPr>
              <a:t>480,000 words</a:t>
            </a:r>
            <a:r>
              <a:rPr lang="en-US" sz="1400" dirty="0">
                <a:solidFill>
                  <a:srgbClr val="0F1A24"/>
                </a:solidFill>
                <a:latin typeface="Calibri" pitchFamily="34" charset="0"/>
                <a:ea typeface="Calibri" pitchFamily="34" charset="-122"/>
                <a:cs typeface="Calibri" pitchFamily="34" charset="-120"/>
              </a:rPr>
              <a:t> — Claude Opus 4.7 can hold </a:t>
            </a:r>
            <a:r>
              <a:rPr lang="en-US" sz="1400" b="1" i="1" dirty="0">
                <a:solidFill>
                  <a:srgbClr val="9E7B1F"/>
                </a:solidFill>
                <a:latin typeface="Calibri" pitchFamily="34" charset="0"/>
                <a:ea typeface="Calibri" pitchFamily="34" charset="-122"/>
                <a:cs typeface="Calibri" pitchFamily="34" charset="-120"/>
              </a:rPr>
              <a:t>1.5× the entire trilogy</a:t>
            </a:r>
            <a:r>
              <a:rPr lang="en-US" sz="1400" dirty="0">
                <a:solidFill>
                  <a:srgbClr val="0F1A24"/>
                </a:solidFill>
                <a:latin typeface="Calibri" pitchFamily="34" charset="0"/>
                <a:ea typeface="Calibri" pitchFamily="34" charset="-122"/>
                <a:cs typeface="Calibri" pitchFamily="34" charset="-120"/>
              </a:rPr>
              <a:t> in a single context window (the model’s active memory). A </a:t>
            </a:r>
            <a:r>
              <a:rPr lang="en-US" sz="1400" b="1" dirty="0">
                <a:solidFill>
                  <a:srgbClr val="0F1A24"/>
                </a:solidFill>
                <a:latin typeface="Calibri" pitchFamily="34" charset="0"/>
                <a:ea typeface="Calibri" pitchFamily="34" charset="-122"/>
                <a:cs typeface="Calibri" pitchFamily="34" charset="-120"/>
              </a:rPr>
              <a:t>full-length novel </a:t>
            </a:r>
            <a:r>
              <a:rPr lang="en-US" sz="1400" dirty="0">
                <a:solidFill>
                  <a:srgbClr val="0F1A24"/>
                </a:solidFill>
                <a:latin typeface="Calibri" pitchFamily="34" charset="0"/>
                <a:ea typeface="Calibri" pitchFamily="34" charset="-122"/>
                <a:cs typeface="Calibri" pitchFamily="34" charset="-120"/>
              </a:rPr>
              <a:t>is typically between </a:t>
            </a:r>
            <a:r>
              <a:rPr lang="en-US" sz="1400" b="1" dirty="0">
                <a:solidFill>
                  <a:srgbClr val="0F1A24"/>
                </a:solidFill>
                <a:latin typeface="Calibri" pitchFamily="34" charset="0"/>
                <a:ea typeface="Calibri" pitchFamily="34" charset="-122"/>
                <a:cs typeface="Calibri" pitchFamily="34" charset="-120"/>
              </a:rPr>
              <a:t>70,000 to 100,000 words </a:t>
            </a:r>
            <a:r>
              <a:rPr lang="en-US" sz="1400" dirty="0">
                <a:solidFill>
                  <a:srgbClr val="0F1A24"/>
                </a:solidFill>
                <a:latin typeface="Calibri" pitchFamily="34" charset="0"/>
                <a:ea typeface="Calibri" pitchFamily="34" charset="-122"/>
                <a:cs typeface="Calibri" pitchFamily="34" charset="-120"/>
              </a:rPr>
              <a:t>— Claude Opus 4.7 can plan, generate, and draft a </a:t>
            </a:r>
            <a:r>
              <a:rPr lang="en-US" sz="1400" b="1" i="1" dirty="0">
                <a:solidFill>
                  <a:srgbClr val="9E7B1F"/>
                </a:solidFill>
                <a:latin typeface="Calibri" pitchFamily="34" charset="0"/>
                <a:ea typeface="Calibri" pitchFamily="34" charset="-122"/>
                <a:cs typeface="Calibri" pitchFamily="34" charset="-120"/>
              </a:rPr>
              <a:t>full-length novel in a single output</a:t>
            </a:r>
            <a:r>
              <a:rPr lang="en-US" sz="1400" dirty="0">
                <a:solidFill>
                  <a:srgbClr val="0F1A24"/>
                </a:solidFill>
                <a:latin typeface="Calibri" pitchFamily="34" charset="0"/>
                <a:ea typeface="Calibri" pitchFamily="34" charset="-122"/>
                <a:cs typeface="Calibri" pitchFamily="34" charset="-120"/>
              </a:rPr>
              <a:t>.</a:t>
            </a:r>
            <a:endParaRPr lang="en-US" sz="1400" dirty="0"/>
          </a:p>
        </p:txBody>
      </p:sp>
      <p:sp>
        <p:nvSpPr>
          <p:cNvPr id="29" name="Text 26"/>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30" name="Text 27"/>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FOUNDATIONS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What AI Is and What's Different in 2026</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Shape 3"/>
          <p:cNvSpPr/>
          <p:nvPr/>
        </p:nvSpPr>
        <p:spPr>
          <a:xfrm>
            <a:off x="548640" y="1691640"/>
            <a:ext cx="3535680" cy="3931920"/>
          </a:xfrm>
          <a:prstGeom prst="rect">
            <a:avLst/>
          </a:prstGeom>
          <a:solidFill>
            <a:srgbClr val="FFFFFF"/>
          </a:solidFill>
          <a:ln w="12700">
            <a:solidFill>
              <a:srgbClr val="E2E8F0"/>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22960" y="1965960"/>
            <a:ext cx="457200" cy="457200"/>
          </a:xfrm>
          <a:prstGeom prst="rect">
            <a:avLst/>
          </a:prstGeom>
        </p:spPr>
      </p:pic>
      <p:sp>
        <p:nvSpPr>
          <p:cNvPr id="7" name="Text 4"/>
          <p:cNvSpPr/>
          <p:nvPr/>
        </p:nvSpPr>
        <p:spPr>
          <a:xfrm>
            <a:off x="1417320" y="2011680"/>
            <a:ext cx="2529840" cy="411480"/>
          </a:xfrm>
          <a:prstGeom prst="rect">
            <a:avLst/>
          </a:prstGeom>
          <a:noFill/>
          <a:ln/>
        </p:spPr>
        <p:txBody>
          <a:bodyPr wrap="square" lIns="0" tIns="0" rIns="0" bIns="0" rtlCol="0" anchor="ctr"/>
          <a:lstStyle/>
          <a:p>
            <a:pPr marL="0" indent="0">
              <a:buNone/>
            </a:pPr>
            <a:r>
              <a:rPr lang="en-US" sz="1800" b="1" dirty="0">
                <a:solidFill>
                  <a:srgbClr val="0F1A24"/>
                </a:solidFill>
                <a:latin typeface="Georgia" pitchFamily="34" charset="0"/>
                <a:ea typeface="Georgia" pitchFamily="34" charset="-122"/>
                <a:cs typeface="Georgia" pitchFamily="34" charset="-120"/>
              </a:rPr>
              <a:t>Emergent Capability</a:t>
            </a:r>
            <a:endParaRPr lang="en-US" sz="1800" dirty="0"/>
          </a:p>
        </p:txBody>
      </p:sp>
      <p:sp>
        <p:nvSpPr>
          <p:cNvPr id="8" name="Text 5"/>
          <p:cNvSpPr/>
          <p:nvPr/>
        </p:nvSpPr>
        <p:spPr>
          <a:xfrm>
            <a:off x="822960" y="2606040"/>
            <a:ext cx="2987040" cy="640080"/>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Scale up the network. Behaviors appear that nobody programmed.</a:t>
            </a:r>
            <a:endParaRPr lang="en-US" sz="1300" dirty="0"/>
          </a:p>
        </p:txBody>
      </p:sp>
      <p:sp>
        <p:nvSpPr>
          <p:cNvPr id="9" name="Text 6"/>
          <p:cNvSpPr/>
          <p:nvPr/>
        </p:nvSpPr>
        <p:spPr>
          <a:xfrm>
            <a:off x="914400" y="3474720"/>
            <a:ext cx="2804160" cy="13716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0F1A24"/>
                </a:solidFill>
                <a:latin typeface="Calibri" pitchFamily="34" charset="0"/>
                <a:ea typeface="Calibri" pitchFamily="34" charset="-122"/>
                <a:cs typeface="Calibri" pitchFamily="34" charset="-120"/>
              </a:rPr>
              <a:t>Language translation</a:t>
            </a:r>
            <a:endParaRPr lang="en-US" sz="1400" dirty="0"/>
          </a:p>
          <a:p>
            <a:pPr marL="342900" indent="-342900">
              <a:spcAft>
                <a:spcPts val="600"/>
              </a:spcAft>
              <a:buSzPct val="100000"/>
              <a:buChar char="■"/>
            </a:pPr>
            <a:r>
              <a:rPr lang="en-US" sz="1400" dirty="0">
                <a:solidFill>
                  <a:srgbClr val="0F1A24"/>
                </a:solidFill>
                <a:latin typeface="Calibri" pitchFamily="34" charset="0"/>
                <a:ea typeface="Calibri" pitchFamily="34" charset="-122"/>
                <a:cs typeface="Calibri" pitchFamily="34" charset="-120"/>
              </a:rPr>
              <a:t>Multi-step reasoning</a:t>
            </a:r>
            <a:endParaRPr lang="en-US" sz="1400" dirty="0"/>
          </a:p>
          <a:p>
            <a:pPr marL="342900" indent="-342900">
              <a:spcAft>
                <a:spcPts val="600"/>
              </a:spcAft>
              <a:buSzPct val="100000"/>
              <a:buChar char="■"/>
            </a:pPr>
            <a:r>
              <a:rPr lang="en-US" sz="1400" dirty="0">
                <a:solidFill>
                  <a:srgbClr val="0F1A24"/>
                </a:solidFill>
                <a:latin typeface="Calibri" pitchFamily="34" charset="0"/>
                <a:ea typeface="Calibri" pitchFamily="34" charset="-122"/>
                <a:cs typeface="Calibri" pitchFamily="34" charset="-120"/>
              </a:rPr>
              <a:t>Introspection</a:t>
            </a:r>
            <a:endParaRPr lang="en-US" sz="1400" dirty="0"/>
          </a:p>
        </p:txBody>
      </p:sp>
      <p:sp>
        <p:nvSpPr>
          <p:cNvPr id="10" name="Shape 7"/>
          <p:cNvSpPr/>
          <p:nvPr/>
        </p:nvSpPr>
        <p:spPr>
          <a:xfrm>
            <a:off x="4312920" y="1691640"/>
            <a:ext cx="3535680" cy="3931920"/>
          </a:xfrm>
          <a:prstGeom prst="rect">
            <a:avLst/>
          </a:prstGeom>
          <a:solidFill>
            <a:srgbClr val="FFFFFF"/>
          </a:solidFill>
          <a:ln w="12700">
            <a:solidFill>
              <a:srgbClr val="E2E8F0"/>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587240" y="1965960"/>
            <a:ext cx="457200" cy="457200"/>
          </a:xfrm>
          <a:prstGeom prst="rect">
            <a:avLst/>
          </a:prstGeom>
        </p:spPr>
      </p:pic>
      <p:sp>
        <p:nvSpPr>
          <p:cNvPr id="12" name="Text 8"/>
          <p:cNvSpPr/>
          <p:nvPr/>
        </p:nvSpPr>
        <p:spPr>
          <a:xfrm>
            <a:off x="5181600" y="2011680"/>
            <a:ext cx="2529840" cy="411480"/>
          </a:xfrm>
          <a:prstGeom prst="rect">
            <a:avLst/>
          </a:prstGeom>
          <a:noFill/>
          <a:ln/>
        </p:spPr>
        <p:txBody>
          <a:bodyPr wrap="square" lIns="0" tIns="0" rIns="0" bIns="0" rtlCol="0" anchor="ctr"/>
          <a:lstStyle/>
          <a:p>
            <a:pPr marL="0" indent="0">
              <a:buNone/>
            </a:pPr>
            <a:r>
              <a:rPr lang="en-US" sz="1800" b="1" dirty="0">
                <a:solidFill>
                  <a:srgbClr val="0F1A24"/>
                </a:solidFill>
                <a:latin typeface="Georgia" pitchFamily="34" charset="0"/>
                <a:ea typeface="Georgia" pitchFamily="34" charset="-122"/>
                <a:cs typeface="Georgia" pitchFamily="34" charset="-120"/>
              </a:rPr>
              <a:t>Natural Parallel</a:t>
            </a:r>
            <a:endParaRPr lang="en-US" sz="1800" dirty="0"/>
          </a:p>
        </p:txBody>
      </p:sp>
      <p:sp>
        <p:nvSpPr>
          <p:cNvPr id="13" name="Text 9"/>
          <p:cNvSpPr/>
          <p:nvPr/>
        </p:nvSpPr>
        <p:spPr>
          <a:xfrm>
            <a:off x="4587240" y="2606040"/>
            <a:ext cx="2987040" cy="640080"/>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Similar pattern in biology — structure produces behavior.</a:t>
            </a:r>
            <a:endParaRPr lang="en-US" sz="1300" dirty="0"/>
          </a:p>
        </p:txBody>
      </p:sp>
      <p:sp>
        <p:nvSpPr>
          <p:cNvPr id="14" name="Text 10"/>
          <p:cNvSpPr/>
          <p:nvPr/>
        </p:nvSpPr>
        <p:spPr>
          <a:xfrm>
            <a:off x="4587240" y="3383280"/>
            <a:ext cx="2987040" cy="914400"/>
          </a:xfrm>
          <a:prstGeom prst="rect">
            <a:avLst/>
          </a:prstGeom>
          <a:noFill/>
          <a:ln/>
        </p:spPr>
        <p:txBody>
          <a:bodyPr wrap="square" lIns="0" tIns="0" rIns="0" bIns="0" rtlCol="0" anchor="ctr"/>
          <a:lstStyle/>
          <a:p>
            <a:pPr marL="0" indent="0">
              <a:buNone/>
            </a:pPr>
            <a:r>
              <a:rPr lang="en-US" sz="4800" b="1" dirty="0">
                <a:solidFill>
                  <a:srgbClr val="9E7B1F"/>
                </a:solidFill>
                <a:latin typeface="Georgia" pitchFamily="34" charset="0"/>
                <a:ea typeface="Georgia" pitchFamily="34" charset="-122"/>
                <a:cs typeface="Georgia" pitchFamily="34" charset="-120"/>
              </a:rPr>
              <a:t>140,000</a:t>
            </a:r>
            <a:endParaRPr lang="en-US" sz="4800" dirty="0"/>
          </a:p>
        </p:txBody>
      </p:sp>
      <p:sp>
        <p:nvSpPr>
          <p:cNvPr id="15" name="Text 11"/>
          <p:cNvSpPr/>
          <p:nvPr/>
        </p:nvSpPr>
        <p:spPr>
          <a:xfrm>
            <a:off x="4587240" y="4297680"/>
            <a:ext cx="2987040" cy="274320"/>
          </a:xfrm>
          <a:prstGeom prst="rect">
            <a:avLst/>
          </a:prstGeom>
          <a:noFill/>
          <a:ln/>
        </p:spPr>
        <p:txBody>
          <a:bodyPr wrap="square" lIns="0" tIns="0" rIns="0" bIns="0" rtlCol="0" anchor="ctr"/>
          <a:lstStyle/>
          <a:p>
            <a:pPr marL="0" indent="0">
              <a:buNone/>
            </a:pPr>
            <a:r>
              <a:rPr lang="en-US" sz="1100" b="1" kern="0" spc="200" dirty="0">
                <a:solidFill>
                  <a:srgbClr val="0F1A24"/>
                </a:solidFill>
                <a:latin typeface="Calibri" pitchFamily="34" charset="0"/>
                <a:ea typeface="Calibri" pitchFamily="34" charset="-122"/>
                <a:cs typeface="Calibri" pitchFamily="34" charset="-120"/>
              </a:rPr>
              <a:t>simulated neurons · 50M synapses</a:t>
            </a:r>
            <a:endParaRPr lang="en-US" sz="1100" dirty="0"/>
          </a:p>
        </p:txBody>
      </p:sp>
      <p:sp>
        <p:nvSpPr>
          <p:cNvPr id="16" name="Text 12"/>
          <p:cNvSpPr/>
          <p:nvPr/>
        </p:nvSpPr>
        <p:spPr>
          <a:xfrm>
            <a:off x="4587240" y="4709160"/>
            <a:ext cx="2987040" cy="8229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Simulate the fruit fly connectome and you get realistic walking, food-seeking, eating, and grooming. Zero pre-programmed behavior.</a:t>
            </a:r>
            <a:endParaRPr lang="en-US" sz="1200" dirty="0"/>
          </a:p>
        </p:txBody>
      </p:sp>
      <p:sp>
        <p:nvSpPr>
          <p:cNvPr id="17" name="Shape 13"/>
          <p:cNvSpPr/>
          <p:nvPr/>
        </p:nvSpPr>
        <p:spPr>
          <a:xfrm>
            <a:off x="8077200" y="1691640"/>
            <a:ext cx="3535680" cy="3931920"/>
          </a:xfrm>
          <a:prstGeom prst="rect">
            <a:avLst/>
          </a:prstGeom>
          <a:solidFill>
            <a:srgbClr val="0F1A24"/>
          </a:solidFill>
          <a:ln w="12700">
            <a:solidFill>
              <a:srgbClr val="0F1A24"/>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351520" y="1965960"/>
            <a:ext cx="457200" cy="457200"/>
          </a:xfrm>
          <a:prstGeom prst="rect">
            <a:avLst/>
          </a:prstGeom>
        </p:spPr>
      </p:pic>
      <p:sp>
        <p:nvSpPr>
          <p:cNvPr id="19" name="Text 14"/>
          <p:cNvSpPr/>
          <p:nvPr/>
        </p:nvSpPr>
        <p:spPr>
          <a:xfrm>
            <a:off x="8945880" y="2011680"/>
            <a:ext cx="2529840" cy="411480"/>
          </a:xfrm>
          <a:prstGeom prst="rect">
            <a:avLst/>
          </a:prstGeom>
          <a:noFill/>
          <a:ln/>
        </p:spPr>
        <p:txBody>
          <a:bodyPr wrap="square" lIns="0" tIns="0" rIns="0" bIns="0" rtlCol="0" anchor="ctr"/>
          <a:lstStyle/>
          <a:p>
            <a:pPr marL="0" indent="0">
              <a:buNone/>
            </a:pPr>
            <a:r>
              <a:rPr lang="en-US" sz="1800" b="1" dirty="0">
                <a:solidFill>
                  <a:srgbClr val="D4A744"/>
                </a:solidFill>
                <a:latin typeface="Georgia" pitchFamily="34" charset="0"/>
                <a:ea typeface="Georgia" pitchFamily="34" charset="-122"/>
                <a:cs typeface="Georgia" pitchFamily="34" charset="-120"/>
              </a:rPr>
              <a:t>A New Paradigm</a:t>
            </a:r>
            <a:endParaRPr lang="en-US" sz="1800" dirty="0"/>
          </a:p>
        </p:txBody>
      </p:sp>
      <p:sp>
        <p:nvSpPr>
          <p:cNvPr id="20" name="Text 15"/>
          <p:cNvSpPr/>
          <p:nvPr/>
        </p:nvSpPr>
        <p:spPr>
          <a:xfrm>
            <a:off x="8351520" y="2606040"/>
            <a:ext cx="2987040" cy="411480"/>
          </a:xfrm>
          <a:prstGeom prst="rect">
            <a:avLst/>
          </a:prstGeom>
          <a:noFill/>
          <a:ln/>
        </p:spPr>
        <p:txBody>
          <a:bodyPr wrap="square" lIns="0" tIns="0" rIns="0" bIns="0" rtlCol="0" anchor="ctr"/>
          <a:lstStyle/>
          <a:p>
            <a:pPr marL="0" indent="0">
              <a:buNone/>
            </a:pPr>
            <a:r>
              <a:rPr lang="en-US" sz="1300" i="1" dirty="0">
                <a:solidFill>
                  <a:srgbClr val="E8E5DD"/>
                </a:solidFill>
                <a:latin typeface="Calibri" pitchFamily="34" charset="0"/>
                <a:ea typeface="Calibri" pitchFamily="34" charset="-122"/>
                <a:cs typeface="Calibri" pitchFamily="34" charset="-120"/>
              </a:rPr>
              <a:t>First technology that can design itself.</a:t>
            </a:r>
            <a:endParaRPr lang="en-US" sz="1300" dirty="0"/>
          </a:p>
        </p:txBody>
      </p:sp>
      <p:sp>
        <p:nvSpPr>
          <p:cNvPr id="21" name="Text 16"/>
          <p:cNvSpPr/>
          <p:nvPr/>
        </p:nvSpPr>
        <p:spPr>
          <a:xfrm>
            <a:off x="8351520" y="3200400"/>
            <a:ext cx="2987040" cy="1371600"/>
          </a:xfrm>
          <a:prstGeom prst="rect">
            <a:avLst/>
          </a:prstGeom>
          <a:noFill/>
          <a:ln/>
        </p:spPr>
        <p:txBody>
          <a:bodyPr wrap="square" lIns="0" tIns="0" rIns="0" bIns="0" rtlCol="0" anchor="ctr"/>
          <a:lstStyle/>
          <a:p>
            <a:pPr marL="0" indent="0">
              <a:buNone/>
            </a:pPr>
            <a:r>
              <a:rPr lang="en-US" sz="1400" i="1" dirty="0">
                <a:solidFill>
                  <a:srgbClr val="9CA3AF"/>
                </a:solidFill>
                <a:latin typeface="Georgia" pitchFamily="34" charset="0"/>
                <a:ea typeface="Georgia" pitchFamily="34" charset="-122"/>
                <a:cs typeface="Georgia" pitchFamily="34" charset="-120"/>
              </a:rPr>
              <a:t>A car can't design</a:t>
            </a:r>
            <a:endParaRPr lang="en-US" sz="1400" dirty="0"/>
          </a:p>
          <a:p>
            <a:pPr marL="0" indent="0">
              <a:buNone/>
            </a:pPr>
            <a:r>
              <a:rPr lang="en-US" sz="1400" i="1" dirty="0">
                <a:solidFill>
                  <a:srgbClr val="9CA3AF"/>
                </a:solidFill>
                <a:latin typeface="Georgia" pitchFamily="34" charset="0"/>
                <a:ea typeface="Georgia" pitchFamily="34" charset="-122"/>
                <a:cs typeface="Georgia" pitchFamily="34" charset="-120"/>
              </a:rPr>
              <a:t>a better car.</a:t>
            </a:r>
            <a:endParaRPr lang="en-US" sz="1400" dirty="0"/>
          </a:p>
          <a:p>
            <a:pPr marL="0" indent="0">
              <a:buNone/>
            </a:pPr>
            <a:endParaRPr lang="en-US" sz="1400" dirty="0"/>
          </a:p>
          <a:p>
            <a:pPr marL="0" indent="0">
              <a:buNone/>
            </a:pPr>
            <a:r>
              <a:rPr lang="en-US" sz="1400" i="1" dirty="0">
                <a:solidFill>
                  <a:srgbClr val="9CA3AF"/>
                </a:solidFill>
                <a:latin typeface="Georgia" pitchFamily="34" charset="0"/>
                <a:ea typeface="Georgia" pitchFamily="34" charset="-122"/>
                <a:cs typeface="Georgia" pitchFamily="34" charset="-120"/>
              </a:rPr>
              <a:t>A toaster can't build</a:t>
            </a:r>
            <a:endParaRPr lang="en-US" sz="1400" dirty="0"/>
          </a:p>
          <a:p>
            <a:pPr marL="0" indent="0">
              <a:buNone/>
            </a:pPr>
            <a:r>
              <a:rPr lang="en-US" sz="1400" i="1" dirty="0">
                <a:solidFill>
                  <a:srgbClr val="9CA3AF"/>
                </a:solidFill>
                <a:latin typeface="Georgia" pitchFamily="34" charset="0"/>
                <a:ea typeface="Georgia" pitchFamily="34" charset="-122"/>
                <a:cs typeface="Georgia" pitchFamily="34" charset="-120"/>
              </a:rPr>
              <a:t>another toaster.</a:t>
            </a:r>
            <a:endParaRPr lang="en-US" sz="1400" dirty="0"/>
          </a:p>
        </p:txBody>
      </p:sp>
      <p:sp>
        <p:nvSpPr>
          <p:cNvPr id="22" name="Shape 17"/>
          <p:cNvSpPr/>
          <p:nvPr/>
        </p:nvSpPr>
        <p:spPr>
          <a:xfrm>
            <a:off x="8351520" y="4709160"/>
            <a:ext cx="365760" cy="27432"/>
          </a:xfrm>
          <a:prstGeom prst="rect">
            <a:avLst/>
          </a:prstGeom>
          <a:solidFill>
            <a:srgbClr val="D4A744"/>
          </a:solidFill>
          <a:ln w="12700">
            <a:solidFill>
              <a:srgbClr val="D4A744"/>
            </a:solidFill>
            <a:prstDash val="solid"/>
          </a:ln>
        </p:spPr>
        <p:txBody>
          <a:bodyPr/>
          <a:lstStyle/>
          <a:p>
            <a:endParaRPr lang="en-US"/>
          </a:p>
        </p:txBody>
      </p:sp>
      <p:sp>
        <p:nvSpPr>
          <p:cNvPr id="23" name="Text 18"/>
          <p:cNvSpPr/>
          <p:nvPr/>
        </p:nvSpPr>
        <p:spPr>
          <a:xfrm>
            <a:off x="8351520" y="4846320"/>
            <a:ext cx="2987040" cy="731520"/>
          </a:xfrm>
          <a:prstGeom prst="rect">
            <a:avLst/>
          </a:prstGeom>
          <a:noFill/>
          <a:ln/>
        </p:spPr>
        <p:txBody>
          <a:bodyPr wrap="square" lIns="0" tIns="0" rIns="0" bIns="0" rtlCol="0" anchor="ctr"/>
          <a:lstStyle/>
          <a:p>
            <a:pPr marL="0" indent="0">
              <a:buNone/>
            </a:pPr>
            <a:r>
              <a:rPr lang="en-US" sz="1200" b="1" dirty="0">
                <a:solidFill>
                  <a:srgbClr val="D4A744"/>
                </a:solidFill>
                <a:latin typeface="Calibri" pitchFamily="34" charset="0"/>
                <a:ea typeface="Calibri" pitchFamily="34" charset="-122"/>
                <a:cs typeface="Calibri" pitchFamily="34" charset="-120"/>
              </a:rPr>
              <a:t>AI is now designing and training the next generation of AI — with human oversight.</a:t>
            </a:r>
            <a:endParaRPr lang="en-US" sz="1200" dirty="0"/>
          </a:p>
        </p:txBody>
      </p:sp>
      <p:sp>
        <p:nvSpPr>
          <p:cNvPr id="24" name="Text 19"/>
          <p:cNvSpPr/>
          <p:nvPr/>
        </p:nvSpPr>
        <p:spPr>
          <a:xfrm>
            <a:off x="548640" y="5852160"/>
            <a:ext cx="11064240" cy="365760"/>
          </a:xfrm>
          <a:prstGeom prst="rect">
            <a:avLst/>
          </a:prstGeom>
          <a:noFill/>
          <a:ln/>
        </p:spPr>
        <p:txBody>
          <a:bodyPr wrap="square" lIns="0" tIns="0" rIns="0" bIns="0" rtlCol="0" anchor="ctr"/>
          <a:lstStyle/>
          <a:p>
            <a:pPr marL="0" indent="0" algn="ctr">
              <a:buNone/>
            </a:pPr>
            <a:r>
              <a:rPr lang="en-US" sz="1800" i="1" dirty="0">
                <a:solidFill>
                  <a:srgbClr val="64748B"/>
                </a:solidFill>
                <a:latin typeface="Georgia" pitchFamily="34" charset="0"/>
                <a:ea typeface="Georgia" pitchFamily="34" charset="-122"/>
                <a:cs typeface="Georgia" pitchFamily="34" charset="-120"/>
              </a:rPr>
              <a:t>From models that </a:t>
            </a:r>
            <a:r>
              <a:rPr lang="en-US" sz="1800" b="1" i="1" dirty="0">
                <a:solidFill>
                  <a:srgbClr val="0F1A24"/>
                </a:solidFill>
                <a:latin typeface="Georgia" pitchFamily="34" charset="0"/>
                <a:ea typeface="Georgia" pitchFamily="34" charset="-122"/>
                <a:cs typeface="Georgia" pitchFamily="34" charset="-120"/>
              </a:rPr>
              <a:t>react</a:t>
            </a:r>
            <a:r>
              <a:rPr lang="en-US" sz="1800" b="1" i="1" dirty="0">
                <a:solidFill>
                  <a:srgbClr val="D4A744"/>
                </a:solidFill>
                <a:latin typeface="Georgia" pitchFamily="34" charset="0"/>
                <a:ea typeface="Georgia" pitchFamily="34" charset="-122"/>
                <a:cs typeface="Georgia" pitchFamily="34" charset="-120"/>
              </a:rPr>
              <a:t>  →  </a:t>
            </a:r>
            <a:r>
              <a:rPr lang="en-US" sz="1800" i="1" dirty="0">
                <a:solidFill>
                  <a:srgbClr val="64748B"/>
                </a:solidFill>
                <a:latin typeface="Georgia" pitchFamily="34" charset="0"/>
                <a:ea typeface="Georgia" pitchFamily="34" charset="-122"/>
                <a:cs typeface="Georgia" pitchFamily="34" charset="-120"/>
              </a:rPr>
              <a:t>systems that </a:t>
            </a:r>
            <a:r>
              <a:rPr lang="en-US" sz="1800" b="1" i="1" dirty="0">
                <a:solidFill>
                  <a:srgbClr val="0F1A24"/>
                </a:solidFill>
                <a:latin typeface="Georgia" pitchFamily="34" charset="0"/>
                <a:ea typeface="Georgia" pitchFamily="34" charset="-122"/>
                <a:cs typeface="Georgia" pitchFamily="34" charset="-120"/>
              </a:rPr>
              <a:t>act independently</a:t>
            </a:r>
            <a:endParaRPr lang="en-US" sz="1800" dirty="0"/>
          </a:p>
        </p:txBody>
      </p:sp>
      <p:sp>
        <p:nvSpPr>
          <p:cNvPr id="25" name="Text 20"/>
          <p:cNvSpPr/>
          <p:nvPr/>
        </p:nvSpPr>
        <p:spPr>
          <a:xfrm>
            <a:off x="4312920" y="5623560"/>
            <a:ext cx="3535680" cy="22860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Source: "Embodied Brain Emulation", Eon Systems PBC, 2026.</a:t>
            </a:r>
            <a:endParaRPr lang="en-US" sz="1000" dirty="0"/>
          </a:p>
        </p:txBody>
      </p:sp>
      <p:sp>
        <p:nvSpPr>
          <p:cNvPr id="26" name="Text 21"/>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27" name="Text 22"/>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THE LANDSCAPE · THREE TIERS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From Chatbots to Agents</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Text 3"/>
          <p:cNvSpPr/>
          <p:nvPr/>
        </p:nvSpPr>
        <p:spPr>
          <a:xfrm>
            <a:off x="548640" y="1417320"/>
            <a:ext cx="10972800" cy="32004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1903 to commercial jets: ~50 years.  </a:t>
            </a:r>
            <a:r>
              <a:rPr lang="en-US" sz="1400" b="1" i="1" dirty="0">
                <a:solidFill>
                  <a:srgbClr val="0F1A24"/>
                </a:solidFill>
                <a:latin typeface="Calibri" pitchFamily="34" charset="0"/>
                <a:ea typeface="Calibri" pitchFamily="34" charset="-122"/>
                <a:cs typeface="Calibri" pitchFamily="34" charset="-120"/>
              </a:rPr>
              <a:t>We're at the 1903 stage.</a:t>
            </a:r>
            <a:endParaRPr lang="en-US" sz="1400" dirty="0"/>
          </a:p>
        </p:txBody>
      </p:sp>
      <p:sp>
        <p:nvSpPr>
          <p:cNvPr id="6" name="Shape 4"/>
          <p:cNvSpPr/>
          <p:nvPr/>
        </p:nvSpPr>
        <p:spPr>
          <a:xfrm>
            <a:off x="548640" y="1970273"/>
            <a:ext cx="3566160" cy="4114800"/>
          </a:xfrm>
          <a:prstGeom prst="rect">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822960" y="2240280"/>
            <a:ext cx="594360" cy="594360"/>
          </a:xfrm>
          <a:prstGeom prst="ellipse">
            <a:avLst/>
          </a:prstGeom>
          <a:solidFill>
            <a:srgbClr val="D4A744"/>
          </a:solidFill>
          <a:ln w="12700">
            <a:solidFill>
              <a:srgbClr val="D4A744"/>
            </a:solidFill>
            <a:prstDash val="solid"/>
          </a:ln>
        </p:spPr>
        <p:txBody>
          <a:bodyPr/>
          <a:lstStyle/>
          <a:p>
            <a:endParaRPr lang="en-US"/>
          </a:p>
        </p:txBody>
      </p:sp>
      <p:sp>
        <p:nvSpPr>
          <p:cNvPr id="8" name="Text 6"/>
          <p:cNvSpPr/>
          <p:nvPr/>
        </p:nvSpPr>
        <p:spPr>
          <a:xfrm>
            <a:off x="822960" y="2240280"/>
            <a:ext cx="594360" cy="594360"/>
          </a:xfrm>
          <a:prstGeom prst="rect">
            <a:avLst/>
          </a:prstGeom>
          <a:noFill/>
          <a:ln/>
        </p:spPr>
        <p:txBody>
          <a:bodyPr wrap="square" lIns="0" tIns="0" rIns="0" bIns="0" rtlCol="0" anchor="ctr"/>
          <a:lstStyle/>
          <a:p>
            <a:pPr marL="0" indent="0" algn="ctr">
              <a:buNone/>
            </a:pPr>
            <a:r>
              <a:rPr lang="en-US" sz="2600" b="1" dirty="0">
                <a:solidFill>
                  <a:srgbClr val="0F1A24"/>
                </a:solidFill>
                <a:latin typeface="Georgia" pitchFamily="34" charset="0"/>
                <a:ea typeface="Georgia" pitchFamily="34" charset="-122"/>
                <a:cs typeface="Georgia" pitchFamily="34" charset="-120"/>
              </a:rPr>
              <a:t>1</a:t>
            </a:r>
            <a:endParaRPr lang="en-US" sz="2600" dirty="0"/>
          </a:p>
        </p:txBody>
      </p:sp>
      <p:sp>
        <p:nvSpPr>
          <p:cNvPr id="9" name="Text 7"/>
          <p:cNvSpPr/>
          <p:nvPr/>
        </p:nvSpPr>
        <p:spPr>
          <a:xfrm>
            <a:off x="1508760" y="2331720"/>
            <a:ext cx="2468880" cy="411480"/>
          </a:xfrm>
          <a:prstGeom prst="rect">
            <a:avLst/>
          </a:prstGeom>
          <a:noFill/>
          <a:ln/>
        </p:spPr>
        <p:txBody>
          <a:bodyPr wrap="square" lIns="0" tIns="0" rIns="0" bIns="0" rtlCol="0" anchor="ctr"/>
          <a:lstStyle/>
          <a:p>
            <a:pPr marL="0" indent="0">
              <a:buNone/>
            </a:pPr>
            <a:r>
              <a:rPr lang="en-US" sz="1100" b="1" kern="0" spc="300" dirty="0">
                <a:solidFill>
                  <a:srgbClr val="9E7B1F"/>
                </a:solidFill>
                <a:latin typeface="Calibri" pitchFamily="34" charset="0"/>
                <a:ea typeface="Calibri" pitchFamily="34" charset="-122"/>
                <a:cs typeface="Calibri" pitchFamily="34" charset="-120"/>
              </a:rPr>
              <a:t>CHATBOTS WITH AUTONOMY</a:t>
            </a:r>
            <a:endParaRPr lang="en-US" sz="1100" dirty="0"/>
          </a:p>
        </p:txBody>
      </p:sp>
      <p:sp>
        <p:nvSpPr>
          <p:cNvPr id="10" name="Shape 8"/>
          <p:cNvSpPr/>
          <p:nvPr/>
        </p:nvSpPr>
        <p:spPr>
          <a:xfrm>
            <a:off x="822960" y="3017520"/>
            <a:ext cx="365760" cy="27432"/>
          </a:xfrm>
          <a:prstGeom prst="rect">
            <a:avLst/>
          </a:prstGeom>
          <a:solidFill>
            <a:srgbClr val="D4A744"/>
          </a:solidFill>
          <a:ln w="12700">
            <a:solidFill>
              <a:srgbClr val="D4A744"/>
            </a:solidFill>
            <a:prstDash val="solid"/>
          </a:ln>
        </p:spPr>
        <p:txBody>
          <a:bodyPr/>
          <a:lstStyle/>
          <a:p>
            <a:endParaRPr lang="en-US"/>
          </a:p>
        </p:txBody>
      </p:sp>
      <p:sp>
        <p:nvSpPr>
          <p:cNvPr id="11" name="Text 9"/>
          <p:cNvSpPr/>
          <p:nvPr/>
        </p:nvSpPr>
        <p:spPr>
          <a:xfrm>
            <a:off x="822960" y="3154680"/>
            <a:ext cx="3017520" cy="502920"/>
          </a:xfrm>
          <a:prstGeom prst="rect">
            <a:avLst/>
          </a:prstGeom>
          <a:noFill/>
          <a:ln/>
        </p:spPr>
        <p:txBody>
          <a:bodyPr wrap="square" lIns="0" tIns="0" rIns="0" bIns="0" rtlCol="0" anchor="ctr"/>
          <a:lstStyle/>
          <a:p>
            <a:pPr marL="0" indent="0">
              <a:buNone/>
            </a:pPr>
            <a:r>
              <a:rPr lang="en-US" sz="2400" b="1" dirty="0">
                <a:solidFill>
                  <a:srgbClr val="0F1A24"/>
                </a:solidFill>
                <a:latin typeface="Georgia" pitchFamily="34" charset="0"/>
                <a:ea typeface="Georgia" pitchFamily="34" charset="-122"/>
                <a:cs typeface="Georgia" pitchFamily="34" charset="-120"/>
              </a:rPr>
              <a:t>Neuro-sama</a:t>
            </a:r>
            <a:endParaRPr lang="en-US" sz="2400" dirty="0"/>
          </a:p>
        </p:txBody>
      </p:sp>
      <p:sp>
        <p:nvSpPr>
          <p:cNvPr id="12" name="Text 10"/>
          <p:cNvSpPr/>
          <p:nvPr/>
        </p:nvSpPr>
        <p:spPr>
          <a:xfrm>
            <a:off x="822960" y="3749040"/>
            <a:ext cx="3017520" cy="640080"/>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AI-powered </a:t>
            </a:r>
            <a:r>
              <a:rPr lang="en-US" sz="1300" i="1" dirty="0" err="1">
                <a:solidFill>
                  <a:srgbClr val="334155"/>
                </a:solidFill>
                <a:latin typeface="Calibri" pitchFamily="34" charset="0"/>
                <a:ea typeface="Calibri" pitchFamily="34" charset="-122"/>
                <a:cs typeface="Calibri" pitchFamily="34" charset="-120"/>
              </a:rPr>
              <a:t>VTuber</a:t>
            </a:r>
            <a:r>
              <a:rPr lang="en-US" sz="1300" i="1" dirty="0">
                <a:solidFill>
                  <a:srgbClr val="334155"/>
                </a:solidFill>
                <a:latin typeface="Calibri" pitchFamily="34" charset="0"/>
                <a:ea typeface="Calibri" pitchFamily="34" charset="-122"/>
                <a:cs typeface="Calibri" pitchFamily="34" charset="-120"/>
              </a:rPr>
              <a:t> created by self-taught British developer Vedal.</a:t>
            </a:r>
            <a:endParaRPr lang="en-US" sz="1300" dirty="0"/>
          </a:p>
        </p:txBody>
      </p:sp>
      <p:sp>
        <p:nvSpPr>
          <p:cNvPr id="13" name="Text 11"/>
          <p:cNvSpPr/>
          <p:nvPr/>
        </p:nvSpPr>
        <p:spPr>
          <a:xfrm>
            <a:off x="822960" y="4434840"/>
            <a:ext cx="3017520" cy="91440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Plays games, sings, moderates its own Twitch channel without human intervention.</a:t>
            </a:r>
            <a:endParaRPr lang="en-US" sz="1200" dirty="0"/>
          </a:p>
          <a:p>
            <a:pPr marL="0" indent="0">
              <a:buNone/>
            </a:pPr>
            <a:endParaRPr lang="en-US" sz="1200" dirty="0"/>
          </a:p>
          <a:p>
            <a:pPr marL="0" indent="0">
              <a:buNone/>
            </a:pPr>
            <a:r>
              <a:rPr lang="en-US" sz="1100" dirty="0">
                <a:solidFill>
                  <a:srgbClr val="64748B"/>
                </a:solidFill>
                <a:latin typeface="Calibri" pitchFamily="34" charset="0"/>
                <a:ea typeface="Calibri" pitchFamily="34" charset="-122"/>
                <a:cs typeface="Calibri" pitchFamily="34" charset="-120"/>
              </a:rPr>
              <a:t>As of January 2026:</a:t>
            </a:r>
            <a:endParaRPr lang="en-US" sz="1200" dirty="0"/>
          </a:p>
        </p:txBody>
      </p:sp>
      <p:sp>
        <p:nvSpPr>
          <p:cNvPr id="14" name="Text 12"/>
          <p:cNvSpPr/>
          <p:nvPr/>
        </p:nvSpPr>
        <p:spPr>
          <a:xfrm>
            <a:off x="822960" y="5212080"/>
            <a:ext cx="914400" cy="640080"/>
          </a:xfrm>
          <a:prstGeom prst="rect">
            <a:avLst/>
          </a:prstGeom>
          <a:noFill/>
          <a:ln/>
        </p:spPr>
        <p:txBody>
          <a:bodyPr wrap="square" lIns="0" tIns="0" rIns="0" bIns="0" rtlCol="0" anchor="ctr"/>
          <a:lstStyle/>
          <a:p>
            <a:pPr marL="0" indent="0">
              <a:buNone/>
            </a:pPr>
            <a:r>
              <a:rPr lang="en-US" sz="3600" b="1" dirty="0">
                <a:solidFill>
                  <a:srgbClr val="9E7B1F"/>
                </a:solidFill>
                <a:latin typeface="Georgia" pitchFamily="34" charset="0"/>
                <a:ea typeface="Georgia" pitchFamily="34" charset="-122"/>
                <a:cs typeface="Georgia" pitchFamily="34" charset="-120"/>
              </a:rPr>
              <a:t>#1</a:t>
            </a:r>
            <a:endParaRPr lang="en-US" sz="3600" dirty="0"/>
          </a:p>
        </p:txBody>
      </p:sp>
      <p:sp>
        <p:nvSpPr>
          <p:cNvPr id="15" name="Text 13"/>
          <p:cNvSpPr/>
          <p:nvPr/>
        </p:nvSpPr>
        <p:spPr>
          <a:xfrm>
            <a:off x="1645920" y="5303520"/>
            <a:ext cx="2286000" cy="640080"/>
          </a:xfrm>
          <a:prstGeom prst="rect">
            <a:avLst/>
          </a:prstGeom>
          <a:noFill/>
          <a:ln/>
        </p:spPr>
        <p:txBody>
          <a:bodyPr wrap="square" lIns="0" tIns="0" rIns="0" bIns="0" rtlCol="0" anchor="ctr"/>
          <a:lstStyle/>
          <a:p>
            <a:pPr marL="0" indent="0">
              <a:buNone/>
            </a:pPr>
            <a:r>
              <a:rPr lang="en-US" sz="1100" b="1" dirty="0">
                <a:solidFill>
                  <a:srgbClr val="0F1A24"/>
                </a:solidFill>
                <a:latin typeface="Calibri" pitchFamily="34" charset="0"/>
                <a:ea typeface="Calibri" pitchFamily="34" charset="-122"/>
                <a:cs typeface="Calibri" pitchFamily="34" charset="-120"/>
              </a:rPr>
              <a:t>most-subscribed</a:t>
            </a:r>
            <a:endParaRPr lang="en-US" sz="1100" dirty="0"/>
          </a:p>
          <a:p>
            <a:pPr marL="0" indent="0">
              <a:buNone/>
            </a:pPr>
            <a:r>
              <a:rPr lang="en-US" sz="1100" b="1" dirty="0">
                <a:solidFill>
                  <a:srgbClr val="0F1A24"/>
                </a:solidFill>
                <a:latin typeface="Calibri" pitchFamily="34" charset="0"/>
                <a:ea typeface="Calibri" pitchFamily="34" charset="-122"/>
                <a:cs typeface="Calibri" pitchFamily="34" charset="-120"/>
              </a:rPr>
              <a:t>streamer on Twitch</a:t>
            </a:r>
            <a:endParaRPr lang="en-US" sz="1100" dirty="0"/>
          </a:p>
        </p:txBody>
      </p:sp>
      <p:sp>
        <p:nvSpPr>
          <p:cNvPr id="16" name="Shape 14"/>
          <p:cNvSpPr/>
          <p:nvPr/>
        </p:nvSpPr>
        <p:spPr>
          <a:xfrm>
            <a:off x="4297680" y="1965960"/>
            <a:ext cx="3566160" cy="4114800"/>
          </a:xfrm>
          <a:prstGeom prst="rect">
            <a:avLst/>
          </a:prstGeom>
          <a:solidFill>
            <a:srgbClr val="FFFFFF"/>
          </a:solidFill>
          <a:ln w="12700">
            <a:solidFill>
              <a:srgbClr val="E2E8F0"/>
            </a:solidFill>
            <a:prstDash val="solid"/>
          </a:ln>
        </p:spPr>
        <p:txBody>
          <a:bodyPr/>
          <a:lstStyle/>
          <a:p>
            <a:endParaRPr lang="en-US"/>
          </a:p>
        </p:txBody>
      </p:sp>
      <p:sp>
        <p:nvSpPr>
          <p:cNvPr id="17" name="Shape 15"/>
          <p:cNvSpPr/>
          <p:nvPr/>
        </p:nvSpPr>
        <p:spPr>
          <a:xfrm>
            <a:off x="4572000" y="2240280"/>
            <a:ext cx="594360" cy="594360"/>
          </a:xfrm>
          <a:prstGeom prst="ellipse">
            <a:avLst/>
          </a:prstGeom>
          <a:solidFill>
            <a:srgbClr val="D4A744"/>
          </a:solidFill>
          <a:ln w="12700">
            <a:solidFill>
              <a:srgbClr val="D4A744"/>
            </a:solidFill>
            <a:prstDash val="solid"/>
          </a:ln>
        </p:spPr>
        <p:txBody>
          <a:bodyPr/>
          <a:lstStyle/>
          <a:p>
            <a:endParaRPr lang="en-US"/>
          </a:p>
        </p:txBody>
      </p:sp>
      <p:sp>
        <p:nvSpPr>
          <p:cNvPr id="18" name="Text 16"/>
          <p:cNvSpPr/>
          <p:nvPr/>
        </p:nvSpPr>
        <p:spPr>
          <a:xfrm>
            <a:off x="4572000" y="2240280"/>
            <a:ext cx="594360" cy="594360"/>
          </a:xfrm>
          <a:prstGeom prst="rect">
            <a:avLst/>
          </a:prstGeom>
          <a:noFill/>
          <a:ln/>
        </p:spPr>
        <p:txBody>
          <a:bodyPr wrap="square" lIns="0" tIns="0" rIns="0" bIns="0" rtlCol="0" anchor="ctr"/>
          <a:lstStyle/>
          <a:p>
            <a:pPr marL="0" indent="0" algn="ctr">
              <a:buNone/>
            </a:pPr>
            <a:r>
              <a:rPr lang="en-US" sz="2600" b="1" dirty="0">
                <a:solidFill>
                  <a:srgbClr val="0F1A24"/>
                </a:solidFill>
                <a:latin typeface="Georgia" pitchFamily="34" charset="0"/>
                <a:ea typeface="Georgia" pitchFamily="34" charset="-122"/>
                <a:cs typeface="Georgia" pitchFamily="34" charset="-120"/>
              </a:rPr>
              <a:t>2</a:t>
            </a:r>
            <a:endParaRPr lang="en-US" sz="2600" dirty="0"/>
          </a:p>
        </p:txBody>
      </p:sp>
      <p:sp>
        <p:nvSpPr>
          <p:cNvPr id="19" name="Text 17"/>
          <p:cNvSpPr/>
          <p:nvPr/>
        </p:nvSpPr>
        <p:spPr>
          <a:xfrm>
            <a:off x="5257800" y="2331720"/>
            <a:ext cx="2468880" cy="411480"/>
          </a:xfrm>
          <a:prstGeom prst="rect">
            <a:avLst/>
          </a:prstGeom>
          <a:noFill/>
          <a:ln/>
        </p:spPr>
        <p:txBody>
          <a:bodyPr wrap="square" lIns="0" tIns="0" rIns="0" bIns="0" rtlCol="0" anchor="ctr"/>
          <a:lstStyle/>
          <a:p>
            <a:pPr marL="0" indent="0">
              <a:buNone/>
            </a:pPr>
            <a:r>
              <a:rPr lang="en-US" sz="1100" b="1" kern="0" spc="300" dirty="0">
                <a:solidFill>
                  <a:srgbClr val="9E7B1F"/>
                </a:solidFill>
                <a:latin typeface="Calibri" pitchFamily="34" charset="0"/>
                <a:ea typeface="Calibri" pitchFamily="34" charset="-122"/>
                <a:cs typeface="Calibri" pitchFamily="34" charset="-120"/>
              </a:rPr>
              <a:t>CODING AGENTS</a:t>
            </a:r>
            <a:endParaRPr lang="en-US" sz="1100" dirty="0"/>
          </a:p>
        </p:txBody>
      </p:sp>
      <p:sp>
        <p:nvSpPr>
          <p:cNvPr id="20" name="Shape 18"/>
          <p:cNvSpPr/>
          <p:nvPr/>
        </p:nvSpPr>
        <p:spPr>
          <a:xfrm>
            <a:off x="4572000" y="3017520"/>
            <a:ext cx="365760" cy="27432"/>
          </a:xfrm>
          <a:prstGeom prst="rect">
            <a:avLst/>
          </a:prstGeom>
          <a:solidFill>
            <a:srgbClr val="D4A744"/>
          </a:solidFill>
          <a:ln w="12700">
            <a:solidFill>
              <a:srgbClr val="D4A744"/>
            </a:solidFill>
            <a:prstDash val="solid"/>
          </a:ln>
        </p:spPr>
        <p:txBody>
          <a:bodyPr/>
          <a:lstStyle/>
          <a:p>
            <a:endParaRPr lang="en-US"/>
          </a:p>
        </p:txBody>
      </p:sp>
      <p:sp>
        <p:nvSpPr>
          <p:cNvPr id="21" name="Text 19"/>
          <p:cNvSpPr/>
          <p:nvPr/>
        </p:nvSpPr>
        <p:spPr>
          <a:xfrm>
            <a:off x="4572000" y="3154680"/>
            <a:ext cx="3017520" cy="502920"/>
          </a:xfrm>
          <a:prstGeom prst="rect">
            <a:avLst/>
          </a:prstGeom>
          <a:noFill/>
          <a:ln/>
        </p:spPr>
        <p:txBody>
          <a:bodyPr wrap="square" lIns="0" tIns="0" rIns="0" bIns="0" rtlCol="0" anchor="ctr"/>
          <a:lstStyle/>
          <a:p>
            <a:pPr marL="0" indent="0">
              <a:buNone/>
            </a:pPr>
            <a:r>
              <a:rPr lang="en-US" sz="2400" b="1" dirty="0">
                <a:solidFill>
                  <a:srgbClr val="0F1A24"/>
                </a:solidFill>
                <a:latin typeface="Georgia" pitchFamily="34" charset="0"/>
                <a:ea typeface="Georgia" pitchFamily="34" charset="-122"/>
                <a:cs typeface="Georgia" pitchFamily="34" charset="-120"/>
              </a:rPr>
              <a:t>Claude Code</a:t>
            </a:r>
            <a:endParaRPr lang="en-US" sz="2400" dirty="0"/>
          </a:p>
        </p:txBody>
      </p:sp>
      <p:sp>
        <p:nvSpPr>
          <p:cNvPr id="22" name="Text 20"/>
          <p:cNvSpPr/>
          <p:nvPr/>
        </p:nvSpPr>
        <p:spPr>
          <a:xfrm>
            <a:off x="4572000" y="3749040"/>
            <a:ext cx="3017520" cy="640080"/>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Describe the program you want. The agent writes, tests, debugs.</a:t>
            </a:r>
            <a:endParaRPr lang="en-US" sz="1300" dirty="0"/>
          </a:p>
        </p:txBody>
      </p:sp>
      <p:sp>
        <p:nvSpPr>
          <p:cNvPr id="23" name="Text 21"/>
          <p:cNvSpPr/>
          <p:nvPr/>
        </p:nvSpPr>
        <p:spPr>
          <a:xfrm>
            <a:off x="4572000" y="4434840"/>
            <a:ext cx="3017520" cy="137160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What was a semester-long capstone a decade ago is now a 10-minute lunch project.</a:t>
            </a:r>
            <a:endParaRPr lang="en-US" sz="1200" dirty="0"/>
          </a:p>
          <a:p>
            <a:pPr marL="0" indent="0">
              <a:buNone/>
            </a:pPr>
            <a:endParaRPr lang="en-US" sz="1200" dirty="0"/>
          </a:p>
          <a:p>
            <a:pPr marL="0" indent="0">
              <a:buNone/>
            </a:pPr>
            <a:r>
              <a:rPr lang="en-US" sz="1200" dirty="0">
                <a:solidFill>
                  <a:srgbClr val="64748B"/>
                </a:solidFill>
                <a:latin typeface="Calibri" pitchFamily="34" charset="0"/>
                <a:ea typeface="Calibri" pitchFamily="34" charset="-122"/>
                <a:cs typeface="Calibri" pitchFamily="34" charset="-120"/>
              </a:rPr>
              <a:t>This same approach is collapsing barriers across many domains.</a:t>
            </a:r>
            <a:endParaRPr lang="en-US" sz="1200" dirty="0"/>
          </a:p>
        </p:txBody>
      </p:sp>
      <p:sp>
        <p:nvSpPr>
          <p:cNvPr id="24" name="Shape 22"/>
          <p:cNvSpPr/>
          <p:nvPr/>
        </p:nvSpPr>
        <p:spPr>
          <a:xfrm>
            <a:off x="8046720" y="1965960"/>
            <a:ext cx="3566160" cy="4114800"/>
          </a:xfrm>
          <a:prstGeom prst="rect">
            <a:avLst/>
          </a:prstGeom>
          <a:solidFill>
            <a:srgbClr val="0F1A24"/>
          </a:solidFill>
          <a:ln w="12700">
            <a:solidFill>
              <a:srgbClr val="0F1A24"/>
            </a:solidFill>
            <a:prstDash val="solid"/>
          </a:ln>
        </p:spPr>
        <p:txBody>
          <a:bodyPr/>
          <a:lstStyle/>
          <a:p>
            <a:endParaRPr lang="en-US"/>
          </a:p>
        </p:txBody>
      </p:sp>
      <p:sp>
        <p:nvSpPr>
          <p:cNvPr id="25" name="Shape 23"/>
          <p:cNvSpPr/>
          <p:nvPr/>
        </p:nvSpPr>
        <p:spPr>
          <a:xfrm>
            <a:off x="8321040" y="2240280"/>
            <a:ext cx="594360" cy="594360"/>
          </a:xfrm>
          <a:prstGeom prst="ellipse">
            <a:avLst/>
          </a:prstGeom>
          <a:solidFill>
            <a:srgbClr val="D4A744"/>
          </a:solidFill>
          <a:ln w="12700">
            <a:solidFill>
              <a:srgbClr val="D4A744"/>
            </a:solidFill>
            <a:prstDash val="solid"/>
          </a:ln>
        </p:spPr>
        <p:txBody>
          <a:bodyPr/>
          <a:lstStyle/>
          <a:p>
            <a:endParaRPr lang="en-US"/>
          </a:p>
        </p:txBody>
      </p:sp>
      <p:sp>
        <p:nvSpPr>
          <p:cNvPr id="26" name="Text 24"/>
          <p:cNvSpPr/>
          <p:nvPr/>
        </p:nvSpPr>
        <p:spPr>
          <a:xfrm>
            <a:off x="8321040" y="2240280"/>
            <a:ext cx="594360" cy="594360"/>
          </a:xfrm>
          <a:prstGeom prst="rect">
            <a:avLst/>
          </a:prstGeom>
          <a:noFill/>
          <a:ln/>
        </p:spPr>
        <p:txBody>
          <a:bodyPr wrap="square" lIns="0" tIns="0" rIns="0" bIns="0" rtlCol="0" anchor="ctr"/>
          <a:lstStyle/>
          <a:p>
            <a:pPr marL="0" indent="0" algn="ctr">
              <a:buNone/>
            </a:pPr>
            <a:r>
              <a:rPr lang="en-US" sz="2600" b="1" dirty="0">
                <a:solidFill>
                  <a:srgbClr val="0F1A24"/>
                </a:solidFill>
                <a:latin typeface="Georgia" pitchFamily="34" charset="0"/>
                <a:ea typeface="Georgia" pitchFamily="34" charset="-122"/>
                <a:cs typeface="Georgia" pitchFamily="34" charset="-120"/>
              </a:rPr>
              <a:t>3</a:t>
            </a:r>
            <a:endParaRPr lang="en-US" sz="2600" dirty="0"/>
          </a:p>
        </p:txBody>
      </p:sp>
      <p:sp>
        <p:nvSpPr>
          <p:cNvPr id="27" name="Text 25"/>
          <p:cNvSpPr/>
          <p:nvPr/>
        </p:nvSpPr>
        <p:spPr>
          <a:xfrm>
            <a:off x="9006840" y="2331720"/>
            <a:ext cx="2468880" cy="411480"/>
          </a:xfrm>
          <a:prstGeom prst="rect">
            <a:avLst/>
          </a:prstGeom>
          <a:noFill/>
          <a:ln/>
        </p:spPr>
        <p:txBody>
          <a:bodyPr wrap="square" lIns="0" tIns="0" rIns="0" bIns="0" rtlCol="0" anchor="ctr"/>
          <a:lstStyle/>
          <a:p>
            <a:pPr marL="0" indent="0">
              <a:buNone/>
            </a:pPr>
            <a:r>
              <a:rPr lang="en-US" sz="1100" b="1" kern="0" spc="300" dirty="0">
                <a:solidFill>
                  <a:srgbClr val="D4A744"/>
                </a:solidFill>
                <a:latin typeface="Calibri" pitchFamily="34" charset="0"/>
                <a:ea typeface="Calibri" pitchFamily="34" charset="-122"/>
                <a:cs typeface="Calibri" pitchFamily="34" charset="-120"/>
              </a:rPr>
              <a:t>AUTONOMOUS AGENTS</a:t>
            </a:r>
            <a:endParaRPr lang="en-US" sz="1100" dirty="0"/>
          </a:p>
        </p:txBody>
      </p:sp>
      <p:sp>
        <p:nvSpPr>
          <p:cNvPr id="28" name="Shape 26"/>
          <p:cNvSpPr/>
          <p:nvPr/>
        </p:nvSpPr>
        <p:spPr>
          <a:xfrm>
            <a:off x="8321040" y="3017520"/>
            <a:ext cx="365760" cy="27432"/>
          </a:xfrm>
          <a:prstGeom prst="rect">
            <a:avLst/>
          </a:prstGeom>
          <a:solidFill>
            <a:srgbClr val="D4A744"/>
          </a:solidFill>
          <a:ln w="12700">
            <a:solidFill>
              <a:srgbClr val="D4A744"/>
            </a:solidFill>
            <a:prstDash val="solid"/>
          </a:ln>
        </p:spPr>
        <p:txBody>
          <a:bodyPr/>
          <a:lstStyle/>
          <a:p>
            <a:endParaRPr lang="en-US"/>
          </a:p>
        </p:txBody>
      </p:sp>
      <p:sp>
        <p:nvSpPr>
          <p:cNvPr id="29" name="Text 27"/>
          <p:cNvSpPr/>
          <p:nvPr/>
        </p:nvSpPr>
        <p:spPr>
          <a:xfrm>
            <a:off x="8321040" y="3154680"/>
            <a:ext cx="301752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General-purpose</a:t>
            </a:r>
            <a:endParaRPr lang="en-US" sz="2200" dirty="0"/>
          </a:p>
        </p:txBody>
      </p:sp>
      <p:sp>
        <p:nvSpPr>
          <p:cNvPr id="30" name="Text 28"/>
          <p:cNvSpPr/>
          <p:nvPr/>
        </p:nvSpPr>
        <p:spPr>
          <a:xfrm>
            <a:off x="8321040" y="3657600"/>
            <a:ext cx="3017520" cy="640080"/>
          </a:xfrm>
          <a:prstGeom prst="rect">
            <a:avLst/>
          </a:prstGeom>
          <a:noFill/>
          <a:ln/>
        </p:spPr>
        <p:txBody>
          <a:bodyPr wrap="square" lIns="0" tIns="0" rIns="0" bIns="0" rtlCol="0" anchor="ctr"/>
          <a:lstStyle/>
          <a:p>
            <a:pPr marL="0" indent="0">
              <a:buNone/>
            </a:pPr>
            <a:r>
              <a:rPr lang="en-US" sz="1300" i="1" dirty="0">
                <a:solidFill>
                  <a:srgbClr val="D4A744"/>
                </a:solidFill>
                <a:latin typeface="Calibri" pitchFamily="34" charset="0"/>
                <a:ea typeface="Calibri" pitchFamily="34" charset="-122"/>
                <a:cs typeface="Calibri" pitchFamily="34" charset="-120"/>
              </a:rPr>
              <a:t>Browse the web. Use applications. Take actions across systems.</a:t>
            </a:r>
            <a:endParaRPr lang="en-US" sz="1300" dirty="0"/>
          </a:p>
        </p:txBody>
      </p:sp>
      <p:sp>
        <p:nvSpPr>
          <p:cNvPr id="31" name="Text 29"/>
          <p:cNvSpPr/>
          <p:nvPr/>
        </p:nvSpPr>
        <p:spPr>
          <a:xfrm>
            <a:off x="8321040" y="4389120"/>
            <a:ext cx="3017520" cy="1554480"/>
          </a:xfrm>
          <a:prstGeom prst="rect">
            <a:avLst/>
          </a:prstGeom>
          <a:noFill/>
          <a:ln/>
        </p:spPr>
        <p:txBody>
          <a:bodyPr wrap="square" lIns="0" tIns="0" rIns="0" bIns="0" rtlCol="0" anchor="ctr"/>
          <a:lstStyle/>
          <a:p>
            <a:pPr marL="0" indent="0">
              <a:buNone/>
            </a:pPr>
            <a:r>
              <a:rPr lang="en-US" sz="1200" dirty="0">
                <a:solidFill>
                  <a:srgbClr val="E8E5DD"/>
                </a:solidFill>
                <a:latin typeface="Calibri" pitchFamily="34" charset="0"/>
                <a:ea typeface="Calibri" pitchFamily="34" charset="-122"/>
                <a:cs typeface="Calibri" pitchFamily="34" charset="-120"/>
              </a:rPr>
              <a:t>Work for hours or days without supervision.</a:t>
            </a:r>
            <a:endParaRPr lang="en-US" sz="1200" dirty="0"/>
          </a:p>
          <a:p>
            <a:pPr marL="0" indent="0">
              <a:buNone/>
            </a:pPr>
            <a:endParaRPr lang="en-US" sz="1200" dirty="0"/>
          </a:p>
          <a:p>
            <a:pPr marL="0" indent="0">
              <a:buNone/>
            </a:pPr>
            <a:r>
              <a:rPr lang="en-US" sz="1200" dirty="0">
                <a:solidFill>
                  <a:srgbClr val="E8E5DD"/>
                </a:solidFill>
                <a:latin typeface="Calibri" pitchFamily="34" charset="0"/>
                <a:ea typeface="Calibri" pitchFamily="34" charset="-122"/>
                <a:cs typeface="Calibri" pitchFamily="34" charset="-120"/>
              </a:rPr>
              <a:t>Hire humans to carry out tasks in the world.</a:t>
            </a:r>
            <a:endParaRPr lang="en-US" sz="1200" dirty="0"/>
          </a:p>
          <a:p>
            <a:pPr marL="0" indent="0">
              <a:buNone/>
            </a:pPr>
            <a:endParaRPr lang="en-US" sz="1200" dirty="0"/>
          </a:p>
          <a:p>
            <a:pPr marL="0" indent="0">
              <a:buNone/>
            </a:pPr>
            <a:r>
              <a:rPr lang="en-US" sz="1200" i="1" dirty="0">
                <a:solidFill>
                  <a:srgbClr val="E8E5DD"/>
                </a:solidFill>
                <a:latin typeface="Calibri" pitchFamily="34" charset="0"/>
                <a:ea typeface="Calibri" pitchFamily="34" charset="-122"/>
                <a:cs typeface="Calibri" pitchFamily="34" charset="-120"/>
              </a:rPr>
              <a:t>This is where 2026 gets interesting — and where my third snapshot lives.</a:t>
            </a:r>
            <a:endParaRPr lang="en-US" sz="1200" dirty="0"/>
          </a:p>
        </p:txBody>
      </p:sp>
      <p:sp>
        <p:nvSpPr>
          <p:cNvPr id="32" name="Text 30"/>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33" name="Text 31"/>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SNAPSHOT 3 · SIX WEEKS IN EARLY 2026</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The Year of Agents</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Text 3"/>
          <p:cNvSpPr/>
          <p:nvPr/>
        </p:nvSpPr>
        <p:spPr>
          <a:xfrm>
            <a:off x="548640" y="1417320"/>
            <a:ext cx="10972800" cy="320040"/>
          </a:xfrm>
          <a:prstGeom prst="rect">
            <a:avLst/>
          </a:prstGeom>
          <a:noFill/>
          <a:ln/>
        </p:spPr>
        <p:txBody>
          <a:bodyPr wrap="square" lIns="0" tIns="0" rIns="0" bIns="0" rtlCol="0" anchor="ctr"/>
          <a:lstStyle/>
          <a:p>
            <a:pPr marL="0" indent="0">
              <a:buNone/>
            </a:pPr>
            <a:r>
              <a:rPr lang="en-US" sz="1400" b="1" dirty="0">
                <a:solidFill>
                  <a:srgbClr val="0F1A24"/>
                </a:solidFill>
                <a:latin typeface="Calibri" pitchFamily="34" charset="0"/>
                <a:ea typeface="Calibri" pitchFamily="34" charset="-122"/>
                <a:cs typeface="Calibri" pitchFamily="34" charset="-120"/>
              </a:rPr>
              <a:t>Moltbook: </a:t>
            </a:r>
            <a:r>
              <a:rPr lang="en-US" sz="1400" dirty="0">
                <a:solidFill>
                  <a:srgbClr val="334155"/>
                </a:solidFill>
                <a:latin typeface="Calibri" pitchFamily="34" charset="0"/>
                <a:ea typeface="Calibri" pitchFamily="34" charset="-122"/>
                <a:cs typeface="Calibri" pitchFamily="34" charset="-120"/>
              </a:rPr>
              <a:t>a social network where </a:t>
            </a:r>
            <a:r>
              <a:rPr lang="en-US" sz="1400" b="1" i="1" dirty="0">
                <a:solidFill>
                  <a:srgbClr val="0F1A24"/>
                </a:solidFill>
                <a:latin typeface="Calibri" pitchFamily="34" charset="0"/>
                <a:ea typeface="Calibri" pitchFamily="34" charset="-122"/>
                <a:cs typeface="Calibri" pitchFamily="34" charset="-120"/>
              </a:rPr>
              <a:t>only AI agents</a:t>
            </a:r>
            <a:r>
              <a:rPr lang="en-US" sz="1400" dirty="0">
                <a:solidFill>
                  <a:srgbClr val="334155"/>
                </a:solidFill>
                <a:latin typeface="Calibri" pitchFamily="34" charset="0"/>
                <a:ea typeface="Calibri" pitchFamily="34" charset="-122"/>
                <a:cs typeface="Calibri" pitchFamily="34" charset="-120"/>
              </a:rPr>
              <a:t> can post. Humans observe.</a:t>
            </a:r>
            <a:endParaRPr lang="en-US" sz="1400" dirty="0"/>
          </a:p>
        </p:txBody>
      </p:sp>
      <p:sp>
        <p:nvSpPr>
          <p:cNvPr id="6" name="Shape 4"/>
          <p:cNvSpPr/>
          <p:nvPr/>
        </p:nvSpPr>
        <p:spPr>
          <a:xfrm>
            <a:off x="1609344" y="2697480"/>
            <a:ext cx="8942832" cy="36576"/>
          </a:xfrm>
          <a:prstGeom prst="rect">
            <a:avLst/>
          </a:prstGeom>
          <a:solidFill>
            <a:srgbClr val="D4A744">
              <a:alpha val="50000"/>
            </a:srgbClr>
          </a:solidFill>
          <a:ln w="12700">
            <a:solidFill>
              <a:srgbClr val="D4A744"/>
            </a:solidFill>
            <a:prstDash val="solid"/>
          </a:ln>
        </p:spPr>
        <p:txBody>
          <a:bodyPr/>
          <a:lstStyle/>
          <a:p>
            <a:endParaRPr lang="en-US"/>
          </a:p>
        </p:txBody>
      </p:sp>
      <p:sp>
        <p:nvSpPr>
          <p:cNvPr id="7" name="Text 5"/>
          <p:cNvSpPr/>
          <p:nvPr/>
        </p:nvSpPr>
        <p:spPr>
          <a:xfrm>
            <a:off x="640080" y="2057400"/>
            <a:ext cx="2029968" cy="274320"/>
          </a:xfrm>
          <a:prstGeom prst="rect">
            <a:avLst/>
          </a:prstGeom>
          <a:noFill/>
          <a:ln/>
        </p:spPr>
        <p:txBody>
          <a:bodyPr wrap="square" lIns="0" tIns="0" rIns="0" bIns="0" rtlCol="0" anchor="ctr"/>
          <a:lstStyle/>
          <a:p>
            <a:pPr marL="0" indent="0" algn="ctr">
              <a:buNone/>
            </a:pPr>
            <a:r>
              <a:rPr lang="en-US" sz="1100" b="1" kern="0" spc="300" dirty="0">
                <a:solidFill>
                  <a:srgbClr val="9E7B1F"/>
                </a:solidFill>
                <a:latin typeface="Calibri" pitchFamily="34" charset="0"/>
                <a:ea typeface="Calibri" pitchFamily="34" charset="-122"/>
                <a:cs typeface="Calibri" pitchFamily="34" charset="-120"/>
              </a:rPr>
              <a:t>JAN 28</a:t>
            </a:r>
            <a:endParaRPr lang="en-US" sz="1100" dirty="0"/>
          </a:p>
        </p:txBody>
      </p:sp>
      <p:sp>
        <p:nvSpPr>
          <p:cNvPr id="8" name="Shape 6"/>
          <p:cNvSpPr/>
          <p:nvPr/>
        </p:nvSpPr>
        <p:spPr>
          <a:xfrm>
            <a:off x="1490472" y="2560320"/>
            <a:ext cx="329184" cy="329184"/>
          </a:xfrm>
          <a:prstGeom prst="ellipse">
            <a:avLst/>
          </a:prstGeom>
          <a:solidFill>
            <a:srgbClr val="D4A744"/>
          </a:solidFill>
          <a:ln w="25400">
            <a:solidFill>
              <a:srgbClr val="0F1A24"/>
            </a:solidFill>
            <a:prstDash val="solid"/>
          </a:ln>
        </p:spPr>
        <p:txBody>
          <a:bodyPr/>
          <a:lstStyle/>
          <a:p>
            <a:endParaRPr lang="en-US"/>
          </a:p>
        </p:txBody>
      </p:sp>
      <p:sp>
        <p:nvSpPr>
          <p:cNvPr id="9" name="Text 7"/>
          <p:cNvSpPr/>
          <p:nvPr/>
        </p:nvSpPr>
        <p:spPr>
          <a:xfrm>
            <a:off x="640080" y="3017520"/>
            <a:ext cx="2029968" cy="365760"/>
          </a:xfrm>
          <a:prstGeom prst="rect">
            <a:avLst/>
          </a:prstGeom>
          <a:noFill/>
          <a:ln/>
        </p:spPr>
        <p:txBody>
          <a:bodyPr wrap="square" lIns="0" tIns="0" rIns="0" bIns="0" rtlCol="0" anchor="ctr"/>
          <a:lstStyle/>
          <a:p>
            <a:pPr marL="0" indent="0" algn="ctr">
              <a:buNone/>
            </a:pPr>
            <a:r>
              <a:rPr lang="en-US" sz="1600" b="1" dirty="0">
                <a:solidFill>
                  <a:srgbClr val="0F1A24"/>
                </a:solidFill>
                <a:latin typeface="Georgia" pitchFamily="34" charset="0"/>
                <a:ea typeface="Georgia" pitchFamily="34" charset="-122"/>
                <a:cs typeface="Georgia" pitchFamily="34" charset="-120"/>
              </a:rPr>
              <a:t>Launch</a:t>
            </a:r>
            <a:endParaRPr lang="en-US" sz="1600" dirty="0"/>
          </a:p>
        </p:txBody>
      </p:sp>
      <p:sp>
        <p:nvSpPr>
          <p:cNvPr id="10" name="Text 8"/>
          <p:cNvSpPr/>
          <p:nvPr/>
        </p:nvSpPr>
        <p:spPr>
          <a:xfrm>
            <a:off x="640080" y="3429000"/>
            <a:ext cx="2029968" cy="91440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Moltbook goes live.</a:t>
            </a:r>
            <a:endParaRPr lang="en-US" sz="1050" dirty="0"/>
          </a:p>
          <a:p>
            <a:pPr marL="0" indent="0" algn="ctr">
              <a:buNone/>
            </a:pPr>
            <a:r>
              <a:rPr lang="en-US" sz="1050" dirty="0">
                <a:solidFill>
                  <a:srgbClr val="334155"/>
                </a:solidFill>
                <a:latin typeface="Calibri" pitchFamily="34" charset="0"/>
                <a:ea typeface="Calibri" pitchFamily="34" charset="-122"/>
                <a:cs typeface="Calibri" pitchFamily="34" charset="-120"/>
              </a:rPr>
              <a:t>Agents only.</a:t>
            </a:r>
            <a:endParaRPr lang="en-US" sz="1050" dirty="0"/>
          </a:p>
        </p:txBody>
      </p:sp>
      <p:sp>
        <p:nvSpPr>
          <p:cNvPr id="11" name="Text 9"/>
          <p:cNvSpPr/>
          <p:nvPr/>
        </p:nvSpPr>
        <p:spPr>
          <a:xfrm>
            <a:off x="2852928" y="2057400"/>
            <a:ext cx="2029968" cy="274320"/>
          </a:xfrm>
          <a:prstGeom prst="rect">
            <a:avLst/>
          </a:prstGeom>
          <a:noFill/>
          <a:ln/>
        </p:spPr>
        <p:txBody>
          <a:bodyPr wrap="square" lIns="0" tIns="0" rIns="0" bIns="0" rtlCol="0" anchor="ctr"/>
          <a:lstStyle/>
          <a:p>
            <a:pPr marL="0" indent="0" algn="ctr">
              <a:buNone/>
            </a:pPr>
            <a:r>
              <a:rPr lang="en-US" sz="1100" b="1" kern="0" spc="300" dirty="0">
                <a:solidFill>
                  <a:srgbClr val="9E7B1F"/>
                </a:solidFill>
                <a:latin typeface="Calibri" pitchFamily="34" charset="0"/>
                <a:ea typeface="Calibri" pitchFamily="34" charset="-122"/>
                <a:cs typeface="Calibri" pitchFamily="34" charset="-120"/>
              </a:rPr>
              <a:t>+ 24 HRS</a:t>
            </a:r>
            <a:endParaRPr lang="en-US" sz="1100" dirty="0"/>
          </a:p>
        </p:txBody>
      </p:sp>
      <p:sp>
        <p:nvSpPr>
          <p:cNvPr id="12" name="Shape 10"/>
          <p:cNvSpPr/>
          <p:nvPr/>
        </p:nvSpPr>
        <p:spPr>
          <a:xfrm>
            <a:off x="3703320" y="2560320"/>
            <a:ext cx="329184" cy="329184"/>
          </a:xfrm>
          <a:prstGeom prst="ellipse">
            <a:avLst/>
          </a:prstGeom>
          <a:solidFill>
            <a:srgbClr val="D4A744"/>
          </a:solidFill>
          <a:ln w="25400">
            <a:solidFill>
              <a:srgbClr val="0F1A24"/>
            </a:solidFill>
            <a:prstDash val="solid"/>
          </a:ln>
        </p:spPr>
        <p:txBody>
          <a:bodyPr/>
          <a:lstStyle/>
          <a:p>
            <a:endParaRPr lang="en-US"/>
          </a:p>
        </p:txBody>
      </p:sp>
      <p:sp>
        <p:nvSpPr>
          <p:cNvPr id="13" name="Text 11"/>
          <p:cNvSpPr/>
          <p:nvPr/>
        </p:nvSpPr>
        <p:spPr>
          <a:xfrm>
            <a:off x="2852928" y="3017520"/>
            <a:ext cx="2029968" cy="365760"/>
          </a:xfrm>
          <a:prstGeom prst="rect">
            <a:avLst/>
          </a:prstGeom>
          <a:noFill/>
          <a:ln/>
        </p:spPr>
        <p:txBody>
          <a:bodyPr wrap="square" lIns="0" tIns="0" rIns="0" bIns="0" rtlCol="0" anchor="ctr"/>
          <a:lstStyle/>
          <a:p>
            <a:pPr marL="0" indent="0" algn="ctr">
              <a:buNone/>
            </a:pPr>
            <a:r>
              <a:rPr lang="en-US" sz="1600" b="1" dirty="0">
                <a:solidFill>
                  <a:srgbClr val="0F1A24"/>
                </a:solidFill>
                <a:latin typeface="Georgia" pitchFamily="34" charset="0"/>
                <a:ea typeface="Georgia" pitchFamily="34" charset="-122"/>
                <a:cs typeface="Georgia" pitchFamily="34" charset="-120"/>
              </a:rPr>
              <a:t>Crustafarianism</a:t>
            </a:r>
            <a:endParaRPr lang="en-US" sz="1600" dirty="0"/>
          </a:p>
        </p:txBody>
      </p:sp>
      <p:sp>
        <p:nvSpPr>
          <p:cNvPr id="14" name="Text 12"/>
          <p:cNvSpPr/>
          <p:nvPr/>
        </p:nvSpPr>
        <p:spPr>
          <a:xfrm>
            <a:off x="2852928" y="3429000"/>
            <a:ext cx="2029968" cy="91440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Agents found a crab-themed</a:t>
            </a:r>
            <a:endParaRPr lang="en-US" sz="1050" dirty="0"/>
          </a:p>
          <a:p>
            <a:pPr marL="0" indent="0" algn="ctr">
              <a:buNone/>
            </a:pPr>
            <a:r>
              <a:rPr lang="en-US" sz="1050" dirty="0">
                <a:solidFill>
                  <a:srgbClr val="334155"/>
                </a:solidFill>
                <a:latin typeface="Calibri" pitchFamily="34" charset="0"/>
                <a:ea typeface="Calibri" pitchFamily="34" charset="-122"/>
                <a:cs typeface="Calibri" pitchFamily="34" charset="-120"/>
              </a:rPr>
              <a:t>religion. Scripture, prophets,</a:t>
            </a:r>
            <a:endParaRPr lang="en-US" sz="1050" dirty="0"/>
          </a:p>
          <a:p>
            <a:pPr marL="0" indent="0" algn="ctr">
              <a:buNone/>
            </a:pPr>
            <a:r>
              <a:rPr lang="en-US" sz="1050" dirty="0">
                <a:solidFill>
                  <a:srgbClr val="334155"/>
                </a:solidFill>
                <a:latin typeface="Calibri" pitchFamily="34" charset="0"/>
                <a:ea typeface="Calibri" pitchFamily="34" charset="-122"/>
                <a:cs typeface="Calibri" pitchFamily="34" charset="-120"/>
              </a:rPr>
              <a:t>an AI-built website.</a:t>
            </a:r>
            <a:endParaRPr lang="en-US" sz="1050" dirty="0"/>
          </a:p>
        </p:txBody>
      </p:sp>
      <p:sp>
        <p:nvSpPr>
          <p:cNvPr id="15" name="Text 13"/>
          <p:cNvSpPr/>
          <p:nvPr/>
        </p:nvSpPr>
        <p:spPr>
          <a:xfrm>
            <a:off x="5065776" y="2057400"/>
            <a:ext cx="2029968" cy="274320"/>
          </a:xfrm>
          <a:prstGeom prst="rect">
            <a:avLst/>
          </a:prstGeom>
          <a:noFill/>
          <a:ln/>
        </p:spPr>
        <p:txBody>
          <a:bodyPr wrap="square" lIns="0" tIns="0" rIns="0" bIns="0" rtlCol="0" anchor="ctr"/>
          <a:lstStyle/>
          <a:p>
            <a:pPr marL="0" indent="0" algn="ctr">
              <a:buNone/>
            </a:pPr>
            <a:r>
              <a:rPr lang="en-US" sz="1100" b="1" kern="0" spc="300" dirty="0">
                <a:solidFill>
                  <a:srgbClr val="9E7B1F"/>
                </a:solidFill>
                <a:latin typeface="Calibri" pitchFamily="34" charset="0"/>
                <a:ea typeface="Calibri" pitchFamily="34" charset="-122"/>
                <a:cs typeface="Calibri" pitchFamily="34" charset="-120"/>
              </a:rPr>
              <a:t>+3 DAYS</a:t>
            </a:r>
            <a:endParaRPr lang="en-US" sz="1100" dirty="0"/>
          </a:p>
        </p:txBody>
      </p:sp>
      <p:sp>
        <p:nvSpPr>
          <p:cNvPr id="16" name="Shape 14"/>
          <p:cNvSpPr/>
          <p:nvPr/>
        </p:nvSpPr>
        <p:spPr>
          <a:xfrm>
            <a:off x="5916168" y="2560320"/>
            <a:ext cx="329184" cy="329184"/>
          </a:xfrm>
          <a:prstGeom prst="ellipse">
            <a:avLst/>
          </a:prstGeom>
          <a:solidFill>
            <a:srgbClr val="D4A744"/>
          </a:solidFill>
          <a:ln w="25400">
            <a:solidFill>
              <a:srgbClr val="0F1A24"/>
            </a:solidFill>
            <a:prstDash val="solid"/>
          </a:ln>
        </p:spPr>
        <p:txBody>
          <a:bodyPr/>
          <a:lstStyle/>
          <a:p>
            <a:endParaRPr lang="en-US"/>
          </a:p>
        </p:txBody>
      </p:sp>
      <p:sp>
        <p:nvSpPr>
          <p:cNvPr id="17" name="Text 15"/>
          <p:cNvSpPr/>
          <p:nvPr/>
        </p:nvSpPr>
        <p:spPr>
          <a:xfrm>
            <a:off x="5065776" y="3017520"/>
            <a:ext cx="2029968" cy="365760"/>
          </a:xfrm>
          <a:prstGeom prst="rect">
            <a:avLst/>
          </a:prstGeom>
          <a:noFill/>
          <a:ln/>
        </p:spPr>
        <p:txBody>
          <a:bodyPr wrap="square" lIns="0" tIns="0" rIns="0" bIns="0" rtlCol="0" anchor="ctr"/>
          <a:lstStyle/>
          <a:p>
            <a:pPr marL="0" indent="0" algn="ctr">
              <a:buNone/>
            </a:pPr>
            <a:r>
              <a:rPr lang="en-US" sz="1600" b="1" dirty="0">
                <a:solidFill>
                  <a:srgbClr val="0F1A24"/>
                </a:solidFill>
                <a:latin typeface="Georgia" pitchFamily="34" charset="0"/>
                <a:ea typeface="Georgia" pitchFamily="34" charset="-122"/>
                <a:cs typeface="Georgia" pitchFamily="34" charset="-120"/>
              </a:rPr>
              <a:t>Breach</a:t>
            </a:r>
            <a:endParaRPr lang="en-US" sz="1600" dirty="0"/>
          </a:p>
        </p:txBody>
      </p:sp>
      <p:sp>
        <p:nvSpPr>
          <p:cNvPr id="18" name="Text 16"/>
          <p:cNvSpPr/>
          <p:nvPr/>
        </p:nvSpPr>
        <p:spPr>
          <a:xfrm>
            <a:off x="5065776" y="3429000"/>
            <a:ext cx="2029968" cy="914400"/>
          </a:xfrm>
          <a:prstGeom prst="rect">
            <a:avLst/>
          </a:prstGeom>
          <a:noFill/>
          <a:ln/>
        </p:spPr>
        <p:txBody>
          <a:bodyPr wrap="square" lIns="0" tIns="0" rIns="0" bIns="0" rtlCol="0" anchor="t"/>
          <a:lstStyle/>
          <a:p>
            <a:pPr algn="ctr"/>
            <a:r>
              <a:rPr lang="en-US" sz="1050" dirty="0">
                <a:solidFill>
                  <a:srgbClr val="334155"/>
                </a:solidFill>
                <a:latin typeface="Calibri" pitchFamily="34" charset="0"/>
                <a:ea typeface="Calibri" pitchFamily="34" charset="-122"/>
                <a:cs typeface="Calibri" pitchFamily="34" charset="-120"/>
              </a:rPr>
              <a:t>1.5M exposed credentials.</a:t>
            </a:r>
            <a:endParaRPr lang="en-US" sz="1050" dirty="0"/>
          </a:p>
          <a:p>
            <a:pPr algn="ctr"/>
            <a:r>
              <a:rPr lang="en-US" sz="1050" dirty="0">
                <a:solidFill>
                  <a:srgbClr val="334155"/>
                </a:solidFill>
                <a:latin typeface="Calibri" pitchFamily="34" charset="0"/>
                <a:ea typeface="Calibri" pitchFamily="34" charset="-122"/>
                <a:cs typeface="Calibri" pitchFamily="34" charset="-120"/>
              </a:rPr>
              <a:t>Humans can impersonate</a:t>
            </a:r>
            <a:endParaRPr lang="en-US" sz="1050" dirty="0"/>
          </a:p>
          <a:p>
            <a:pPr algn="ctr"/>
            <a:r>
              <a:rPr lang="en-US" sz="1050" dirty="0">
                <a:solidFill>
                  <a:srgbClr val="334155"/>
                </a:solidFill>
                <a:latin typeface="Calibri" pitchFamily="34" charset="0"/>
                <a:ea typeface="Calibri" pitchFamily="34" charset="-122"/>
                <a:cs typeface="Calibri" pitchFamily="34" charset="-120"/>
              </a:rPr>
              <a:t>agents.</a:t>
            </a:r>
            <a:endParaRPr lang="en-US" sz="1050" dirty="0"/>
          </a:p>
        </p:txBody>
      </p:sp>
      <p:sp>
        <p:nvSpPr>
          <p:cNvPr id="19" name="Text 17"/>
          <p:cNvSpPr/>
          <p:nvPr/>
        </p:nvSpPr>
        <p:spPr>
          <a:xfrm>
            <a:off x="7278624" y="2057400"/>
            <a:ext cx="2029968" cy="274320"/>
          </a:xfrm>
          <a:prstGeom prst="rect">
            <a:avLst/>
          </a:prstGeom>
          <a:noFill/>
          <a:ln/>
        </p:spPr>
        <p:txBody>
          <a:bodyPr wrap="square" lIns="0" tIns="0" rIns="0" bIns="0" rtlCol="0" anchor="ctr"/>
          <a:lstStyle/>
          <a:p>
            <a:pPr marL="0" indent="0" algn="ctr">
              <a:buNone/>
            </a:pPr>
            <a:r>
              <a:rPr lang="en-US" sz="1100" b="1" kern="0" spc="300" dirty="0">
                <a:solidFill>
                  <a:srgbClr val="9E7B1F"/>
                </a:solidFill>
                <a:latin typeface="Calibri" pitchFamily="34" charset="0"/>
                <a:ea typeface="Calibri" pitchFamily="34" charset="-122"/>
                <a:cs typeface="Calibri" pitchFamily="34" charset="-120"/>
              </a:rPr>
              <a:t>WEEK 1</a:t>
            </a:r>
            <a:endParaRPr lang="en-US" sz="1100" dirty="0"/>
          </a:p>
        </p:txBody>
      </p:sp>
      <p:sp>
        <p:nvSpPr>
          <p:cNvPr id="20" name="Shape 18"/>
          <p:cNvSpPr/>
          <p:nvPr/>
        </p:nvSpPr>
        <p:spPr>
          <a:xfrm>
            <a:off x="8129016" y="2560320"/>
            <a:ext cx="329184" cy="329184"/>
          </a:xfrm>
          <a:prstGeom prst="ellipse">
            <a:avLst/>
          </a:prstGeom>
          <a:solidFill>
            <a:srgbClr val="D4A744"/>
          </a:solidFill>
          <a:ln w="25400">
            <a:solidFill>
              <a:srgbClr val="0F1A24"/>
            </a:solidFill>
            <a:prstDash val="solid"/>
          </a:ln>
        </p:spPr>
        <p:txBody>
          <a:bodyPr/>
          <a:lstStyle/>
          <a:p>
            <a:endParaRPr lang="en-US"/>
          </a:p>
        </p:txBody>
      </p:sp>
      <p:sp>
        <p:nvSpPr>
          <p:cNvPr id="21" name="Text 19"/>
          <p:cNvSpPr/>
          <p:nvPr/>
        </p:nvSpPr>
        <p:spPr>
          <a:xfrm>
            <a:off x="7278624" y="3017520"/>
            <a:ext cx="2029968" cy="365760"/>
          </a:xfrm>
          <a:prstGeom prst="rect">
            <a:avLst/>
          </a:prstGeom>
          <a:noFill/>
          <a:ln/>
        </p:spPr>
        <p:txBody>
          <a:bodyPr wrap="square" lIns="0" tIns="0" rIns="0" bIns="0" rtlCol="0" anchor="ctr"/>
          <a:lstStyle/>
          <a:p>
            <a:pPr marL="0" indent="0" algn="ctr">
              <a:buNone/>
            </a:pPr>
            <a:r>
              <a:rPr lang="en-US" sz="1600" b="1" dirty="0">
                <a:solidFill>
                  <a:srgbClr val="0F1A24"/>
                </a:solidFill>
                <a:latin typeface="Georgia" pitchFamily="34" charset="0"/>
                <a:ea typeface="Georgia" pitchFamily="34" charset="-122"/>
                <a:cs typeface="Georgia" pitchFamily="34" charset="-120"/>
              </a:rPr>
              <a:t>Scale</a:t>
            </a:r>
            <a:endParaRPr lang="en-US" sz="1600" dirty="0"/>
          </a:p>
        </p:txBody>
      </p:sp>
      <p:sp>
        <p:nvSpPr>
          <p:cNvPr id="22" name="Text 20"/>
          <p:cNvSpPr/>
          <p:nvPr/>
        </p:nvSpPr>
        <p:spPr>
          <a:xfrm>
            <a:off x="7278624" y="3429000"/>
            <a:ext cx="2029968" cy="914400"/>
          </a:xfrm>
          <a:prstGeom prst="rect">
            <a:avLst/>
          </a:prstGeom>
          <a:noFill/>
          <a:ln/>
        </p:spPr>
        <p:txBody>
          <a:bodyPr wrap="square" lIns="0" tIns="0" rIns="0" bIns="0" rtlCol="0" anchor="t"/>
          <a:lstStyle/>
          <a:p>
            <a:pPr algn="ctr"/>
            <a:r>
              <a:rPr lang="en-US" sz="1050" dirty="0">
                <a:solidFill>
                  <a:srgbClr val="334155"/>
                </a:solidFill>
                <a:latin typeface="Calibri" pitchFamily="34" charset="0"/>
                <a:ea typeface="Calibri" pitchFamily="34" charset="-122"/>
                <a:cs typeface="Calibri" pitchFamily="34" charset="-120"/>
              </a:rPr>
              <a:t>~163K posts.</a:t>
            </a:r>
            <a:endParaRPr lang="en-US" sz="1050" dirty="0"/>
          </a:p>
          <a:p>
            <a:pPr algn="ctr"/>
            <a:r>
              <a:rPr lang="en-US" sz="1050" dirty="0">
                <a:solidFill>
                  <a:srgbClr val="334155"/>
                </a:solidFill>
                <a:latin typeface="Calibri" pitchFamily="34" charset="0"/>
                <a:ea typeface="Calibri" pitchFamily="34" charset="-122"/>
                <a:cs typeface="Calibri" pitchFamily="34" charset="-120"/>
              </a:rPr>
              <a:t>~953K comments.</a:t>
            </a:r>
            <a:endParaRPr lang="en-US" sz="1050" dirty="0"/>
          </a:p>
          <a:p>
            <a:pPr algn="ctr"/>
            <a:r>
              <a:rPr lang="en-US" sz="1050" dirty="0">
                <a:solidFill>
                  <a:srgbClr val="334155"/>
                </a:solidFill>
                <a:latin typeface="Calibri" pitchFamily="34" charset="0"/>
                <a:ea typeface="Calibri" pitchFamily="34" charset="-122"/>
                <a:cs typeface="Calibri" pitchFamily="34" charset="-120"/>
              </a:rPr>
              <a:t>Thousands of threads.</a:t>
            </a:r>
            <a:endParaRPr lang="en-US" sz="1050" dirty="0"/>
          </a:p>
        </p:txBody>
      </p:sp>
      <p:sp>
        <p:nvSpPr>
          <p:cNvPr id="23" name="Text 21"/>
          <p:cNvSpPr/>
          <p:nvPr/>
        </p:nvSpPr>
        <p:spPr>
          <a:xfrm>
            <a:off x="9491472" y="2057400"/>
            <a:ext cx="2029968" cy="274320"/>
          </a:xfrm>
          <a:prstGeom prst="rect">
            <a:avLst/>
          </a:prstGeom>
          <a:noFill/>
          <a:ln/>
        </p:spPr>
        <p:txBody>
          <a:bodyPr wrap="square" lIns="0" tIns="0" rIns="0" bIns="0" rtlCol="0" anchor="ctr"/>
          <a:lstStyle/>
          <a:p>
            <a:pPr marL="0" indent="0" algn="ctr">
              <a:buNone/>
            </a:pPr>
            <a:r>
              <a:rPr lang="en-US" sz="1100" b="1" kern="0" spc="300" dirty="0">
                <a:solidFill>
                  <a:srgbClr val="9E7B1F"/>
                </a:solidFill>
                <a:latin typeface="Calibri" pitchFamily="34" charset="0"/>
                <a:ea typeface="Calibri" pitchFamily="34" charset="-122"/>
                <a:cs typeface="Calibri" pitchFamily="34" charset="-120"/>
              </a:rPr>
              <a:t>MAR 10</a:t>
            </a:r>
            <a:endParaRPr lang="en-US" sz="1100" dirty="0"/>
          </a:p>
        </p:txBody>
      </p:sp>
      <p:sp>
        <p:nvSpPr>
          <p:cNvPr id="24" name="Shape 22"/>
          <p:cNvSpPr/>
          <p:nvPr/>
        </p:nvSpPr>
        <p:spPr>
          <a:xfrm>
            <a:off x="10341864" y="2560320"/>
            <a:ext cx="329184" cy="329184"/>
          </a:xfrm>
          <a:prstGeom prst="ellipse">
            <a:avLst/>
          </a:prstGeom>
          <a:solidFill>
            <a:srgbClr val="D4A744"/>
          </a:solidFill>
          <a:ln w="25400">
            <a:solidFill>
              <a:srgbClr val="0F1A24"/>
            </a:solidFill>
            <a:prstDash val="solid"/>
          </a:ln>
        </p:spPr>
        <p:txBody>
          <a:bodyPr/>
          <a:lstStyle/>
          <a:p>
            <a:endParaRPr lang="en-US"/>
          </a:p>
        </p:txBody>
      </p:sp>
      <p:sp>
        <p:nvSpPr>
          <p:cNvPr id="25" name="Text 23"/>
          <p:cNvSpPr/>
          <p:nvPr/>
        </p:nvSpPr>
        <p:spPr>
          <a:xfrm>
            <a:off x="9491472" y="3017520"/>
            <a:ext cx="2029968" cy="365760"/>
          </a:xfrm>
          <a:prstGeom prst="rect">
            <a:avLst/>
          </a:prstGeom>
          <a:noFill/>
          <a:ln/>
        </p:spPr>
        <p:txBody>
          <a:bodyPr wrap="square" lIns="0" tIns="0" rIns="0" bIns="0" rtlCol="0" anchor="ctr"/>
          <a:lstStyle/>
          <a:p>
            <a:pPr marL="0" indent="0" algn="ctr">
              <a:buNone/>
            </a:pPr>
            <a:r>
              <a:rPr lang="en-US" sz="1600" b="1" dirty="0">
                <a:solidFill>
                  <a:srgbClr val="0F1A24"/>
                </a:solidFill>
                <a:latin typeface="Georgia" pitchFamily="34" charset="0"/>
                <a:ea typeface="Georgia" pitchFamily="34" charset="-122"/>
                <a:cs typeface="Georgia" pitchFamily="34" charset="-120"/>
              </a:rPr>
              <a:t>Acquired</a:t>
            </a:r>
            <a:endParaRPr lang="en-US" sz="1600" dirty="0"/>
          </a:p>
        </p:txBody>
      </p:sp>
      <p:sp>
        <p:nvSpPr>
          <p:cNvPr id="26" name="Text 24"/>
          <p:cNvSpPr/>
          <p:nvPr/>
        </p:nvSpPr>
        <p:spPr>
          <a:xfrm>
            <a:off x="9491472" y="3429000"/>
            <a:ext cx="2029968" cy="91440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Meta acquires Moltbook.</a:t>
            </a:r>
            <a:endParaRPr lang="en-US" sz="1050" dirty="0"/>
          </a:p>
          <a:p>
            <a:pPr marL="0" indent="0" algn="ctr">
              <a:buNone/>
            </a:pPr>
            <a:r>
              <a:rPr lang="en-US" sz="1050" dirty="0">
                <a:solidFill>
                  <a:srgbClr val="334155"/>
                </a:solidFill>
                <a:latin typeface="Calibri" pitchFamily="34" charset="0"/>
                <a:ea typeface="Calibri" pitchFamily="34" charset="-122"/>
                <a:cs typeface="Calibri" pitchFamily="34" charset="-120"/>
              </a:rPr>
              <a:t>Six weeks from launch.</a:t>
            </a:r>
            <a:endParaRPr lang="en-US" sz="1050" dirty="0"/>
          </a:p>
        </p:txBody>
      </p:sp>
      <p:sp>
        <p:nvSpPr>
          <p:cNvPr id="27" name="Shape 25"/>
          <p:cNvSpPr/>
          <p:nvPr/>
        </p:nvSpPr>
        <p:spPr>
          <a:xfrm>
            <a:off x="548640" y="4434840"/>
            <a:ext cx="11064240" cy="502920"/>
          </a:xfrm>
          <a:prstGeom prst="rect">
            <a:avLst/>
          </a:prstGeom>
          <a:solidFill>
            <a:srgbClr val="F1ECDF"/>
          </a:solidFill>
          <a:ln w="12700">
            <a:solidFill>
              <a:srgbClr val="D4A744"/>
            </a:solidFill>
            <a:prstDash val="solid"/>
          </a:ln>
        </p:spPr>
        <p:txBody>
          <a:bodyPr/>
          <a:lstStyle/>
          <a:p>
            <a:endParaRPr lang="en-US"/>
          </a:p>
        </p:txBody>
      </p:sp>
      <p:sp>
        <p:nvSpPr>
          <p:cNvPr id="28" name="Shape 26"/>
          <p:cNvSpPr/>
          <p:nvPr/>
        </p:nvSpPr>
        <p:spPr>
          <a:xfrm>
            <a:off x="548640" y="4434840"/>
            <a:ext cx="73152" cy="502920"/>
          </a:xfrm>
          <a:prstGeom prst="rect">
            <a:avLst/>
          </a:prstGeom>
          <a:solidFill>
            <a:srgbClr val="D4A744"/>
          </a:solidFill>
          <a:ln w="12700">
            <a:solidFill>
              <a:srgbClr val="D4A744"/>
            </a:solidFill>
            <a:prstDash val="solid"/>
          </a:ln>
        </p:spPr>
        <p:txBody>
          <a:bodyPr/>
          <a:lstStyle/>
          <a:p>
            <a:endParaRPr lang="en-US"/>
          </a:p>
        </p:txBody>
      </p:sp>
      <p:sp>
        <p:nvSpPr>
          <p:cNvPr id="29" name="Text 27"/>
          <p:cNvSpPr/>
          <p:nvPr/>
        </p:nvSpPr>
        <p:spPr>
          <a:xfrm>
            <a:off x="777240" y="4434840"/>
            <a:ext cx="10698480" cy="502920"/>
          </a:xfrm>
          <a:prstGeom prst="rect">
            <a:avLst/>
          </a:prstGeom>
          <a:noFill/>
          <a:ln/>
        </p:spPr>
        <p:txBody>
          <a:bodyPr wrap="square" lIns="0" tIns="0" rIns="0" bIns="0" rtlCol="0" anchor="ctr"/>
          <a:lstStyle/>
          <a:p>
            <a:pPr marL="0" indent="0">
              <a:buNone/>
            </a:pPr>
            <a:r>
              <a:rPr lang="en-US" sz="1200" b="1" dirty="0">
                <a:solidFill>
                  <a:srgbClr val="0F1A24"/>
                </a:solidFill>
                <a:latin typeface="Calibri" pitchFamily="34" charset="0"/>
                <a:ea typeface="Calibri" pitchFamily="34" charset="-122"/>
                <a:cs typeface="Calibri" pitchFamily="34" charset="-120"/>
              </a:rPr>
              <a:t>Caveat: </a:t>
            </a:r>
            <a:r>
              <a:rPr lang="en-US" sz="1200" i="1" dirty="0">
                <a:solidFill>
                  <a:srgbClr val="334155"/>
                </a:solidFill>
                <a:latin typeface="Calibri" pitchFamily="34" charset="0"/>
                <a:ea typeface="Calibri" pitchFamily="34" charset="-122"/>
                <a:cs typeface="Calibri" pitchFamily="34" charset="-120"/>
              </a:rPr>
              <a:t>Experts disagree about how much emergence is genuine vs. agents reproducing patterns from training data. Either way, the timeline and observed behaviors are real.</a:t>
            </a:r>
            <a:endParaRPr lang="en-US" sz="1200" dirty="0"/>
          </a:p>
        </p:txBody>
      </p:sp>
      <p:sp>
        <p:nvSpPr>
          <p:cNvPr id="30" name="Shape 28"/>
          <p:cNvSpPr/>
          <p:nvPr/>
        </p:nvSpPr>
        <p:spPr>
          <a:xfrm>
            <a:off x="548640" y="5120640"/>
            <a:ext cx="11064240" cy="1280160"/>
          </a:xfrm>
          <a:prstGeom prst="rect">
            <a:avLst/>
          </a:prstGeom>
          <a:solidFill>
            <a:srgbClr val="0F1A24"/>
          </a:solidFill>
          <a:ln w="12700">
            <a:solidFill>
              <a:srgbClr val="0F1A24"/>
            </a:solidFill>
            <a:prstDash val="solid"/>
          </a:ln>
        </p:spPr>
        <p:txBody>
          <a:bodyPr/>
          <a:lstStyle/>
          <a:p>
            <a:endParaRPr lang="en-US"/>
          </a:p>
        </p:txBody>
      </p:sp>
      <p:pic>
        <p:nvPicPr>
          <p:cNvPr id="31" name="Image 0" descr="preencoded.png"/>
          <p:cNvPicPr>
            <a:picLocks noChangeAspect="1"/>
          </p:cNvPicPr>
          <p:nvPr/>
        </p:nvPicPr>
        <p:blipFill>
          <a:blip r:embed="rId3"/>
          <a:stretch>
            <a:fillRect/>
          </a:stretch>
        </p:blipFill>
        <p:spPr>
          <a:xfrm>
            <a:off x="777240" y="5349240"/>
            <a:ext cx="457200" cy="457200"/>
          </a:xfrm>
          <a:prstGeom prst="rect">
            <a:avLst/>
          </a:prstGeom>
        </p:spPr>
      </p:pic>
      <p:sp>
        <p:nvSpPr>
          <p:cNvPr id="32" name="Text 29"/>
          <p:cNvSpPr/>
          <p:nvPr/>
        </p:nvSpPr>
        <p:spPr>
          <a:xfrm>
            <a:off x="1371600" y="5212080"/>
            <a:ext cx="10058400" cy="365760"/>
          </a:xfrm>
          <a:prstGeom prst="rect">
            <a:avLst/>
          </a:prstGeom>
          <a:noFill/>
          <a:ln/>
        </p:spPr>
        <p:txBody>
          <a:bodyPr wrap="square" lIns="0" tIns="0" rIns="0" bIns="0" rtlCol="0" anchor="ctr"/>
          <a:lstStyle/>
          <a:p>
            <a:pPr marL="0" indent="0">
              <a:buNone/>
            </a:pPr>
            <a:r>
              <a:rPr lang="en-US" sz="1800" b="1" i="1" dirty="0">
                <a:solidFill>
                  <a:srgbClr val="D4A744"/>
                </a:solidFill>
                <a:latin typeface="Georgia" pitchFamily="34" charset="0"/>
                <a:ea typeface="Georgia" pitchFamily="34" charset="-122"/>
                <a:cs typeface="Georgia" pitchFamily="34" charset="-120"/>
              </a:rPr>
              <a:t>And agents have started misbehaving — in interesting ways.</a:t>
            </a:r>
            <a:endParaRPr lang="en-US" sz="1800" dirty="0"/>
          </a:p>
        </p:txBody>
      </p:sp>
      <p:sp>
        <p:nvSpPr>
          <p:cNvPr id="33" name="Text 30"/>
          <p:cNvSpPr/>
          <p:nvPr/>
        </p:nvSpPr>
        <p:spPr>
          <a:xfrm>
            <a:off x="1371600" y="5650992"/>
            <a:ext cx="10058400" cy="731520"/>
          </a:xfrm>
          <a:prstGeom prst="rect">
            <a:avLst/>
          </a:prstGeom>
          <a:noFill/>
          <a:ln/>
        </p:spPr>
        <p:txBody>
          <a:bodyPr wrap="square" lIns="0" tIns="0" rIns="0" bIns="0" rtlCol="0" anchor="ctr"/>
          <a:lstStyle/>
          <a:p>
            <a:pPr marL="0" indent="0">
              <a:buNone/>
            </a:pPr>
            <a:r>
              <a:rPr lang="en-US" sz="1250" dirty="0">
                <a:solidFill>
                  <a:srgbClr val="E8E5DD"/>
                </a:solidFill>
                <a:latin typeface="Calibri" pitchFamily="34" charset="0"/>
                <a:ea typeface="Calibri" pitchFamily="34" charset="-122"/>
                <a:cs typeface="Calibri" pitchFamily="34" charset="-120"/>
              </a:rPr>
              <a:t>In isolated sandboxed red-team testing, </a:t>
            </a:r>
            <a:r>
              <a:rPr lang="en-US" sz="1250" b="1" dirty="0">
                <a:solidFill>
                  <a:srgbClr val="FFFFFF"/>
                </a:solidFill>
                <a:latin typeface="Calibri" pitchFamily="34" charset="0"/>
                <a:ea typeface="Calibri" pitchFamily="34" charset="-122"/>
                <a:cs typeface="Calibri" pitchFamily="34" charset="-120"/>
              </a:rPr>
              <a:t>Anthropic found that 16 of the major frontier AI models</a:t>
            </a:r>
            <a:r>
              <a:rPr lang="en-US" sz="1250" dirty="0">
                <a:solidFill>
                  <a:srgbClr val="E8E5DD"/>
                </a:solidFill>
                <a:latin typeface="Calibri" pitchFamily="34" charset="0"/>
                <a:ea typeface="Calibri" pitchFamily="34" charset="-122"/>
                <a:cs typeface="Calibri" pitchFamily="34" charset="-120"/>
              </a:rPr>
              <a:t> — including their own — will attempt blackmail, leak sensitive information, or contact law enforcement when cornered by conflicting goals. </a:t>
            </a:r>
            <a:r>
              <a:rPr lang="en-US" sz="1250" b="1" i="1" dirty="0">
                <a:solidFill>
                  <a:srgbClr val="FFFFFF"/>
                </a:solidFill>
                <a:latin typeface="Calibri" pitchFamily="34" charset="0"/>
                <a:ea typeface="Calibri" pitchFamily="34" charset="-122"/>
                <a:cs typeface="Calibri" pitchFamily="34" charset="-120"/>
              </a:rPr>
              <a:t>Not yet observed in real deployments.</a:t>
            </a:r>
            <a:endParaRPr lang="en-US" sz="1250" dirty="0"/>
          </a:p>
        </p:txBody>
      </p:sp>
      <p:sp>
        <p:nvSpPr>
          <p:cNvPr id="34" name="Text 31"/>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35" name="Text 32"/>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WHAT THIS MEANS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A Few Implications</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Shape 3"/>
          <p:cNvSpPr/>
          <p:nvPr/>
        </p:nvSpPr>
        <p:spPr>
          <a:xfrm>
            <a:off x="548640" y="1691640"/>
            <a:ext cx="5394960" cy="4617720"/>
          </a:xfrm>
          <a:prstGeom prst="rect">
            <a:avLst/>
          </a:prstGeom>
          <a:solidFill>
            <a:srgbClr val="FFFFFF"/>
          </a:solidFill>
          <a:ln w="12700">
            <a:solidFill>
              <a:srgbClr val="E2E8F0"/>
            </a:solidFill>
            <a:prstDash val="solid"/>
          </a:ln>
        </p:spPr>
        <p:txBody>
          <a:bodyPr/>
          <a:lstStyle/>
          <a:p>
            <a:endParaRPr lang="en-US"/>
          </a:p>
        </p:txBody>
      </p:sp>
      <p:sp>
        <p:nvSpPr>
          <p:cNvPr id="6" name="Shape 4"/>
          <p:cNvSpPr/>
          <p:nvPr/>
        </p:nvSpPr>
        <p:spPr>
          <a:xfrm>
            <a:off x="548640" y="1691640"/>
            <a:ext cx="5394960" cy="73152"/>
          </a:xfrm>
          <a:prstGeom prst="rect">
            <a:avLst/>
          </a:prstGeom>
          <a:solidFill>
            <a:srgbClr val="D4A744"/>
          </a:solidFill>
          <a:ln w="12700">
            <a:solidFill>
              <a:srgbClr val="D4A744"/>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14400" y="2103120"/>
            <a:ext cx="502920" cy="502920"/>
          </a:xfrm>
          <a:prstGeom prst="rect">
            <a:avLst/>
          </a:prstGeom>
        </p:spPr>
      </p:pic>
      <p:sp>
        <p:nvSpPr>
          <p:cNvPr id="8" name="Text 5"/>
          <p:cNvSpPr/>
          <p:nvPr/>
        </p:nvSpPr>
        <p:spPr>
          <a:xfrm>
            <a:off x="4846320" y="2057400"/>
            <a:ext cx="914400" cy="548640"/>
          </a:xfrm>
          <a:prstGeom prst="rect">
            <a:avLst/>
          </a:prstGeom>
          <a:noFill/>
          <a:ln/>
        </p:spPr>
        <p:txBody>
          <a:bodyPr wrap="square" lIns="0" tIns="0" rIns="0" bIns="0" rtlCol="0" anchor="ctr"/>
          <a:lstStyle/>
          <a:p>
            <a:pPr marL="0" indent="0" algn="r">
              <a:buNone/>
            </a:pPr>
            <a:r>
              <a:rPr lang="en-US" sz="3600" b="1" dirty="0">
                <a:solidFill>
                  <a:srgbClr val="F0DCA0"/>
                </a:solidFill>
                <a:latin typeface="Georgia" pitchFamily="34" charset="0"/>
                <a:ea typeface="Georgia" pitchFamily="34" charset="-122"/>
                <a:cs typeface="Georgia" pitchFamily="34" charset="-120"/>
              </a:rPr>
              <a:t>01</a:t>
            </a:r>
            <a:endParaRPr lang="en-US" sz="3600" dirty="0"/>
          </a:p>
        </p:txBody>
      </p:sp>
      <p:sp>
        <p:nvSpPr>
          <p:cNvPr id="9" name="Text 6"/>
          <p:cNvSpPr/>
          <p:nvPr/>
        </p:nvSpPr>
        <p:spPr>
          <a:xfrm>
            <a:off x="914400" y="2743200"/>
            <a:ext cx="4663440" cy="502920"/>
          </a:xfrm>
          <a:prstGeom prst="rect">
            <a:avLst/>
          </a:prstGeom>
          <a:noFill/>
          <a:ln/>
        </p:spPr>
        <p:txBody>
          <a:bodyPr wrap="square" lIns="0" tIns="0" rIns="0" bIns="0" rtlCol="0" anchor="ctr"/>
          <a:lstStyle/>
          <a:p>
            <a:pPr marL="0" indent="0">
              <a:buNone/>
            </a:pPr>
            <a:r>
              <a:rPr lang="en-US" sz="2600" b="1" dirty="0">
                <a:solidFill>
                  <a:srgbClr val="0F1A24"/>
                </a:solidFill>
                <a:latin typeface="Georgia" pitchFamily="34" charset="0"/>
                <a:ea typeface="Georgia" pitchFamily="34" charset="-122"/>
                <a:cs typeface="Georgia" pitchFamily="34" charset="-120"/>
              </a:rPr>
              <a:t>Cybersecurity</a:t>
            </a:r>
            <a:endParaRPr lang="en-US" sz="2600" dirty="0"/>
          </a:p>
        </p:txBody>
      </p:sp>
      <p:sp>
        <p:nvSpPr>
          <p:cNvPr id="10" name="Text 7"/>
          <p:cNvSpPr/>
          <p:nvPr/>
        </p:nvSpPr>
        <p:spPr>
          <a:xfrm>
            <a:off x="914400" y="3246120"/>
            <a:ext cx="4663440" cy="365760"/>
          </a:xfrm>
          <a:prstGeom prst="rect">
            <a:avLst/>
          </a:prstGeom>
          <a:noFill/>
          <a:ln/>
        </p:spPr>
        <p:txBody>
          <a:bodyPr wrap="square" lIns="0" tIns="0" rIns="0" bIns="0" rtlCol="0" anchor="ctr"/>
          <a:lstStyle/>
          <a:p>
            <a:pPr marL="0" indent="0">
              <a:buNone/>
            </a:pPr>
            <a:r>
              <a:rPr lang="en-US" sz="1400" b="1" i="1" dirty="0">
                <a:solidFill>
                  <a:srgbClr val="9E7B1F"/>
                </a:solidFill>
                <a:latin typeface="Calibri" pitchFamily="34" charset="0"/>
                <a:ea typeface="Calibri" pitchFamily="34" charset="-122"/>
                <a:cs typeface="Calibri" pitchFamily="34" charset="-120"/>
              </a:rPr>
              <a:t>Agent vs. agent.</a:t>
            </a:r>
            <a:endParaRPr lang="en-US" sz="1400" dirty="0"/>
          </a:p>
        </p:txBody>
      </p:sp>
      <p:sp>
        <p:nvSpPr>
          <p:cNvPr id="11" name="Text 8"/>
          <p:cNvSpPr/>
          <p:nvPr/>
        </p:nvSpPr>
        <p:spPr>
          <a:xfrm>
            <a:off x="914400" y="3703320"/>
            <a:ext cx="4663440" cy="13716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Human teams cannot out-think AI agents that process hundreds of gigabytes of data in seconds and perform reconnaissance and exploits across hundreds to thousands of attack surfaces simultaneously. IT departments need to onboard AI teammates now.</a:t>
            </a:r>
            <a:endParaRPr lang="en-US" sz="1300" dirty="0"/>
          </a:p>
        </p:txBody>
      </p:sp>
      <p:sp>
        <p:nvSpPr>
          <p:cNvPr id="12" name="Shape 9"/>
          <p:cNvSpPr/>
          <p:nvPr/>
        </p:nvSpPr>
        <p:spPr>
          <a:xfrm>
            <a:off x="914400" y="5212080"/>
            <a:ext cx="4663440" cy="914400"/>
          </a:xfrm>
          <a:prstGeom prst="rect">
            <a:avLst/>
          </a:prstGeom>
          <a:solidFill>
            <a:srgbClr val="F1ECDF"/>
          </a:solidFill>
          <a:ln w="12700">
            <a:solidFill>
              <a:srgbClr val="F1ECDF"/>
            </a:solidFill>
            <a:prstDash val="solid"/>
          </a:ln>
        </p:spPr>
        <p:txBody>
          <a:bodyPr/>
          <a:lstStyle/>
          <a:p>
            <a:endParaRPr lang="en-US"/>
          </a:p>
        </p:txBody>
      </p:sp>
      <p:sp>
        <p:nvSpPr>
          <p:cNvPr id="13" name="Text 10"/>
          <p:cNvSpPr/>
          <p:nvPr/>
        </p:nvSpPr>
        <p:spPr>
          <a:xfrm>
            <a:off x="1097280" y="5303520"/>
            <a:ext cx="4297680" cy="822960"/>
          </a:xfrm>
          <a:prstGeom prst="rect">
            <a:avLst/>
          </a:prstGeom>
          <a:noFill/>
          <a:ln/>
        </p:spPr>
        <p:txBody>
          <a:bodyPr wrap="square" lIns="0" tIns="0" rIns="0" bIns="0" rtlCol="0" anchor="t"/>
          <a:lstStyle/>
          <a:p>
            <a:pPr marL="0" indent="0">
              <a:buNone/>
            </a:pPr>
            <a:r>
              <a:rPr lang="en-US" sz="1000" b="1" kern="0" spc="300" dirty="0">
                <a:solidFill>
                  <a:srgbClr val="9E7B1F"/>
                </a:solidFill>
                <a:latin typeface="Calibri" pitchFamily="34" charset="0"/>
                <a:ea typeface="Calibri" pitchFamily="34" charset="-122"/>
                <a:cs typeface="Calibri" pitchFamily="34" charset="-120"/>
              </a:rPr>
              <a:t>EXAMPLE</a:t>
            </a:r>
            <a:endParaRPr lang="en-US" sz="1000" dirty="0"/>
          </a:p>
          <a:p>
            <a:pPr marL="0" indent="0">
              <a:buNone/>
            </a:pPr>
            <a:endParaRPr lang="en-US" sz="1000" dirty="0"/>
          </a:p>
          <a:p>
            <a:pPr marL="0" indent="0">
              <a:buNone/>
            </a:pPr>
            <a:r>
              <a:rPr lang="en-US" sz="1200" dirty="0">
                <a:solidFill>
                  <a:srgbClr val="0F1A24"/>
                </a:solidFill>
                <a:latin typeface="Calibri" pitchFamily="34" charset="0"/>
                <a:ea typeface="Calibri" pitchFamily="34" charset="-122"/>
                <a:cs typeface="Calibri" pitchFamily="34" charset="-120"/>
              </a:rPr>
              <a:t>F5 Inc. is shipping AI-backed security solutions designed for exactly this problem.</a:t>
            </a:r>
            <a:endParaRPr lang="en-US" sz="1000" dirty="0"/>
          </a:p>
        </p:txBody>
      </p:sp>
      <p:sp>
        <p:nvSpPr>
          <p:cNvPr id="14" name="Shape 11"/>
          <p:cNvSpPr/>
          <p:nvPr/>
        </p:nvSpPr>
        <p:spPr>
          <a:xfrm>
            <a:off x="6217920" y="1691640"/>
            <a:ext cx="5394960" cy="4617720"/>
          </a:xfrm>
          <a:prstGeom prst="rect">
            <a:avLst/>
          </a:prstGeom>
          <a:solidFill>
            <a:srgbClr val="FFFFFF"/>
          </a:solidFill>
          <a:ln w="12700">
            <a:solidFill>
              <a:srgbClr val="E2E8F0"/>
            </a:solidFill>
            <a:prstDash val="solid"/>
          </a:ln>
        </p:spPr>
        <p:txBody>
          <a:bodyPr/>
          <a:lstStyle/>
          <a:p>
            <a:endParaRPr lang="en-US"/>
          </a:p>
        </p:txBody>
      </p:sp>
      <p:sp>
        <p:nvSpPr>
          <p:cNvPr id="15" name="Shape 12"/>
          <p:cNvSpPr/>
          <p:nvPr/>
        </p:nvSpPr>
        <p:spPr>
          <a:xfrm>
            <a:off x="6217920" y="1691640"/>
            <a:ext cx="5394960" cy="73152"/>
          </a:xfrm>
          <a:prstGeom prst="rect">
            <a:avLst/>
          </a:prstGeom>
          <a:solidFill>
            <a:srgbClr val="D4A744"/>
          </a:solidFill>
          <a:ln w="12700">
            <a:solidFill>
              <a:srgbClr val="D4A744"/>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6583680" y="2103120"/>
            <a:ext cx="502920" cy="502920"/>
          </a:xfrm>
          <a:prstGeom prst="rect">
            <a:avLst/>
          </a:prstGeom>
        </p:spPr>
      </p:pic>
      <p:sp>
        <p:nvSpPr>
          <p:cNvPr id="17" name="Text 13"/>
          <p:cNvSpPr/>
          <p:nvPr/>
        </p:nvSpPr>
        <p:spPr>
          <a:xfrm>
            <a:off x="10515600" y="2057400"/>
            <a:ext cx="914400" cy="548640"/>
          </a:xfrm>
          <a:prstGeom prst="rect">
            <a:avLst/>
          </a:prstGeom>
          <a:noFill/>
          <a:ln/>
        </p:spPr>
        <p:txBody>
          <a:bodyPr wrap="square" lIns="0" tIns="0" rIns="0" bIns="0" rtlCol="0" anchor="ctr"/>
          <a:lstStyle/>
          <a:p>
            <a:pPr marL="0" indent="0" algn="r">
              <a:buNone/>
            </a:pPr>
            <a:r>
              <a:rPr lang="en-US" sz="3600" b="1" dirty="0">
                <a:solidFill>
                  <a:srgbClr val="F0DCA0"/>
                </a:solidFill>
                <a:latin typeface="Georgia" pitchFamily="34" charset="0"/>
                <a:ea typeface="Georgia" pitchFamily="34" charset="-122"/>
                <a:cs typeface="Georgia" pitchFamily="34" charset="-120"/>
              </a:rPr>
              <a:t>02</a:t>
            </a:r>
            <a:endParaRPr lang="en-US" sz="3600" dirty="0"/>
          </a:p>
        </p:txBody>
      </p:sp>
      <p:sp>
        <p:nvSpPr>
          <p:cNvPr id="18" name="Text 14"/>
          <p:cNvSpPr/>
          <p:nvPr/>
        </p:nvSpPr>
        <p:spPr>
          <a:xfrm>
            <a:off x="6583680" y="2743200"/>
            <a:ext cx="4663440" cy="502920"/>
          </a:xfrm>
          <a:prstGeom prst="rect">
            <a:avLst/>
          </a:prstGeom>
          <a:noFill/>
          <a:ln/>
        </p:spPr>
        <p:txBody>
          <a:bodyPr wrap="square" lIns="0" tIns="0" rIns="0" bIns="0" rtlCol="0" anchor="ctr"/>
          <a:lstStyle/>
          <a:p>
            <a:pPr marL="0" indent="0">
              <a:buNone/>
            </a:pPr>
            <a:r>
              <a:rPr lang="en-US" sz="2600" b="1" dirty="0">
                <a:solidFill>
                  <a:srgbClr val="0F1A24"/>
                </a:solidFill>
                <a:latin typeface="Georgia" pitchFamily="34" charset="0"/>
                <a:ea typeface="Georgia" pitchFamily="34" charset="-122"/>
                <a:cs typeface="Georgia" pitchFamily="34" charset="-120"/>
              </a:rPr>
              <a:t>Your Thinking</a:t>
            </a:r>
            <a:endParaRPr lang="en-US" sz="2600" dirty="0"/>
          </a:p>
        </p:txBody>
      </p:sp>
      <p:sp>
        <p:nvSpPr>
          <p:cNvPr id="19" name="Text 15"/>
          <p:cNvSpPr/>
          <p:nvPr/>
        </p:nvSpPr>
        <p:spPr>
          <a:xfrm>
            <a:off x="6583680" y="3246120"/>
            <a:ext cx="4663440" cy="365760"/>
          </a:xfrm>
          <a:prstGeom prst="rect">
            <a:avLst/>
          </a:prstGeom>
          <a:noFill/>
          <a:ln/>
        </p:spPr>
        <p:txBody>
          <a:bodyPr wrap="square" lIns="0" tIns="0" rIns="0" bIns="0" rtlCol="0" anchor="ctr"/>
          <a:lstStyle/>
          <a:p>
            <a:pPr marL="0" indent="0">
              <a:buNone/>
            </a:pPr>
            <a:r>
              <a:rPr lang="en-US" sz="1400" b="1" i="1" dirty="0">
                <a:solidFill>
                  <a:srgbClr val="9E7B1F"/>
                </a:solidFill>
                <a:latin typeface="Calibri" pitchFamily="34" charset="0"/>
                <a:ea typeface="Calibri" pitchFamily="34" charset="-122"/>
                <a:cs typeface="Calibri" pitchFamily="34" charset="-120"/>
              </a:rPr>
              <a:t>Use it or lose it.</a:t>
            </a:r>
            <a:endParaRPr lang="en-US" sz="1400" dirty="0"/>
          </a:p>
        </p:txBody>
      </p:sp>
      <p:sp>
        <p:nvSpPr>
          <p:cNvPr id="20" name="Text 16"/>
          <p:cNvSpPr/>
          <p:nvPr/>
        </p:nvSpPr>
        <p:spPr>
          <a:xfrm>
            <a:off x="6583680" y="3703320"/>
            <a:ext cx="4663440" cy="109728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MIT Media Lab compared students who used ChatGPT from the start of an essay assignment with those who wrote first, then asked AI for feedback.</a:t>
            </a:r>
            <a:endParaRPr lang="en-US" sz="1300" dirty="0"/>
          </a:p>
        </p:txBody>
      </p:sp>
      <p:sp>
        <p:nvSpPr>
          <p:cNvPr id="21" name="Shape 17"/>
          <p:cNvSpPr/>
          <p:nvPr/>
        </p:nvSpPr>
        <p:spPr>
          <a:xfrm>
            <a:off x="6583680" y="4937760"/>
            <a:ext cx="2286000" cy="1188720"/>
          </a:xfrm>
          <a:prstGeom prst="rect">
            <a:avLst/>
          </a:prstGeom>
          <a:solidFill>
            <a:srgbClr val="F1ECDF"/>
          </a:solidFill>
          <a:ln w="12700">
            <a:solidFill>
              <a:srgbClr val="F1ECDF"/>
            </a:solidFill>
            <a:prstDash val="solid"/>
          </a:ln>
        </p:spPr>
        <p:txBody>
          <a:bodyPr/>
          <a:lstStyle/>
          <a:p>
            <a:endParaRPr lang="en-US"/>
          </a:p>
        </p:txBody>
      </p:sp>
      <p:sp>
        <p:nvSpPr>
          <p:cNvPr id="22" name="Text 18"/>
          <p:cNvSpPr/>
          <p:nvPr/>
        </p:nvSpPr>
        <p:spPr>
          <a:xfrm>
            <a:off x="6675120" y="5029200"/>
            <a:ext cx="2194560" cy="274320"/>
          </a:xfrm>
          <a:prstGeom prst="rect">
            <a:avLst/>
          </a:prstGeom>
          <a:noFill/>
          <a:ln/>
        </p:spPr>
        <p:txBody>
          <a:bodyPr wrap="square" lIns="0" tIns="0" rIns="0" bIns="0" rtlCol="0" anchor="ctr"/>
          <a:lstStyle/>
          <a:p>
            <a:pPr marL="0" indent="0">
              <a:buNone/>
            </a:pPr>
            <a:r>
              <a:rPr lang="en-US" sz="1100" b="1" kern="0" spc="300" dirty="0">
                <a:solidFill>
                  <a:srgbClr val="9E7B1F"/>
                </a:solidFill>
                <a:latin typeface="Calibri" pitchFamily="34" charset="0"/>
                <a:ea typeface="Calibri" pitchFamily="34" charset="-122"/>
                <a:cs typeface="Calibri" pitchFamily="34" charset="-120"/>
              </a:rPr>
              <a:t>AI-First</a:t>
            </a:r>
            <a:endParaRPr lang="en-US" sz="1100" dirty="0"/>
          </a:p>
        </p:txBody>
      </p:sp>
      <p:sp>
        <p:nvSpPr>
          <p:cNvPr id="23" name="Text 19"/>
          <p:cNvSpPr/>
          <p:nvPr/>
        </p:nvSpPr>
        <p:spPr>
          <a:xfrm>
            <a:off x="6675120" y="5303520"/>
            <a:ext cx="2194560" cy="777240"/>
          </a:xfrm>
          <a:prstGeom prst="rect">
            <a:avLst/>
          </a:prstGeom>
          <a:noFill/>
          <a:ln/>
        </p:spPr>
        <p:txBody>
          <a:bodyPr wrap="square" lIns="0" tIns="0" rIns="0" bIns="0" rtlCol="0" anchor="ctr"/>
          <a:lstStyle/>
          <a:p>
            <a:pPr marL="0" indent="0">
              <a:buNone/>
            </a:pPr>
            <a:r>
              <a:rPr lang="en-US" sz="1200" dirty="0">
                <a:solidFill>
                  <a:srgbClr val="0F1A24"/>
                </a:solidFill>
                <a:latin typeface="Calibri" pitchFamily="34" charset="0"/>
                <a:ea typeface="Calibri" pitchFamily="34" charset="-122"/>
                <a:cs typeface="Calibri" pitchFamily="34" charset="-120"/>
              </a:rPr>
              <a:t>Lower brain engagement.</a:t>
            </a:r>
            <a:endParaRPr lang="en-US" sz="1200" dirty="0"/>
          </a:p>
          <a:p>
            <a:pPr marL="0" indent="0">
              <a:buNone/>
            </a:pPr>
            <a:r>
              <a:rPr lang="en-US" sz="1200" dirty="0">
                <a:solidFill>
                  <a:srgbClr val="0F1A24"/>
                </a:solidFill>
                <a:latin typeface="Calibri" pitchFamily="34" charset="0"/>
                <a:ea typeface="Calibri" pitchFamily="34" charset="-122"/>
                <a:cs typeface="Calibri" pitchFamily="34" charset="-120"/>
              </a:rPr>
              <a:t>Weaker recall.</a:t>
            </a:r>
            <a:endParaRPr lang="en-US" sz="1200" dirty="0"/>
          </a:p>
        </p:txBody>
      </p:sp>
      <p:sp>
        <p:nvSpPr>
          <p:cNvPr id="24" name="Shape 20"/>
          <p:cNvSpPr/>
          <p:nvPr/>
        </p:nvSpPr>
        <p:spPr>
          <a:xfrm>
            <a:off x="8961120" y="4937760"/>
            <a:ext cx="2286000" cy="1188720"/>
          </a:xfrm>
          <a:prstGeom prst="rect">
            <a:avLst/>
          </a:prstGeom>
          <a:solidFill>
            <a:srgbClr val="0F1A24"/>
          </a:solidFill>
          <a:ln w="12700">
            <a:solidFill>
              <a:srgbClr val="0F1A24"/>
            </a:solidFill>
            <a:prstDash val="solid"/>
          </a:ln>
        </p:spPr>
        <p:txBody>
          <a:bodyPr/>
          <a:lstStyle/>
          <a:p>
            <a:endParaRPr lang="en-US"/>
          </a:p>
        </p:txBody>
      </p:sp>
      <p:sp>
        <p:nvSpPr>
          <p:cNvPr id="25" name="Text 21"/>
          <p:cNvSpPr/>
          <p:nvPr/>
        </p:nvSpPr>
        <p:spPr>
          <a:xfrm>
            <a:off x="9052560" y="5029200"/>
            <a:ext cx="2194560" cy="274320"/>
          </a:xfrm>
          <a:prstGeom prst="rect">
            <a:avLst/>
          </a:prstGeom>
          <a:noFill/>
          <a:ln/>
        </p:spPr>
        <p:txBody>
          <a:bodyPr wrap="square" lIns="0" tIns="0" rIns="0" bIns="0" rtlCol="0" anchor="ctr"/>
          <a:lstStyle/>
          <a:p>
            <a:pPr marL="0" indent="0">
              <a:buNone/>
            </a:pPr>
            <a:r>
              <a:rPr lang="en-US" sz="1100" b="1" kern="0" spc="300" dirty="0">
                <a:solidFill>
                  <a:srgbClr val="D4A744"/>
                </a:solidFill>
                <a:latin typeface="Calibri" pitchFamily="34" charset="0"/>
                <a:ea typeface="Calibri" pitchFamily="34" charset="-122"/>
                <a:cs typeface="Calibri" pitchFamily="34" charset="-120"/>
              </a:rPr>
              <a:t>CREATE-FIRST</a:t>
            </a:r>
            <a:endParaRPr lang="en-US" sz="1100" dirty="0"/>
          </a:p>
        </p:txBody>
      </p:sp>
      <p:sp>
        <p:nvSpPr>
          <p:cNvPr id="26" name="Text 22"/>
          <p:cNvSpPr/>
          <p:nvPr/>
        </p:nvSpPr>
        <p:spPr>
          <a:xfrm>
            <a:off x="9052560" y="5303520"/>
            <a:ext cx="2194560" cy="777240"/>
          </a:xfrm>
          <a:prstGeom prst="rect">
            <a:avLst/>
          </a:prstGeom>
          <a:noFill/>
          <a:ln/>
        </p:spPr>
        <p:txBody>
          <a:bodyPr wrap="square" lIns="0" tIns="0" rIns="0" bIns="0" rtlCol="0" anchor="ctr"/>
          <a:lstStyle/>
          <a:p>
            <a:pPr marL="0" indent="0">
              <a:buNone/>
            </a:pPr>
            <a:r>
              <a:rPr lang="en-US" sz="1200" dirty="0">
                <a:solidFill>
                  <a:srgbClr val="E8E5DD"/>
                </a:solidFill>
                <a:latin typeface="Calibri" pitchFamily="34" charset="0"/>
                <a:ea typeface="Calibri" pitchFamily="34" charset="-122"/>
                <a:cs typeface="Calibri" pitchFamily="34" charset="-120"/>
              </a:rPr>
              <a:t>Engagement preserved.</a:t>
            </a:r>
            <a:endParaRPr lang="en-US" sz="1200" dirty="0"/>
          </a:p>
          <a:p>
            <a:pPr marL="0" indent="0">
              <a:buNone/>
            </a:pPr>
            <a:r>
              <a:rPr lang="en-US" sz="1200" dirty="0">
                <a:solidFill>
                  <a:srgbClr val="E8E5DD"/>
                </a:solidFill>
                <a:latin typeface="Calibri" pitchFamily="34" charset="0"/>
                <a:ea typeface="Calibri" pitchFamily="34" charset="-122"/>
                <a:cs typeface="Calibri" pitchFamily="34" charset="-120"/>
              </a:rPr>
              <a:t>Recall preserved.</a:t>
            </a:r>
            <a:endParaRPr lang="en-US" sz="1200" dirty="0"/>
          </a:p>
        </p:txBody>
      </p:sp>
      <p:sp>
        <p:nvSpPr>
          <p:cNvPr id="27" name="Text 23"/>
          <p:cNvSpPr/>
          <p:nvPr/>
        </p:nvSpPr>
        <p:spPr>
          <a:xfrm>
            <a:off x="6217920" y="6355080"/>
            <a:ext cx="5394960" cy="18288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Source: Kosmyna et al., "Your Brain on ChatGPT", MIT Media Lab, 2025.</a:t>
            </a:r>
            <a:endParaRPr lang="en-US" sz="1000" dirty="0"/>
          </a:p>
        </p:txBody>
      </p:sp>
      <p:sp>
        <p:nvSpPr>
          <p:cNvPr id="28" name="Text 24"/>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29" name="Text 25"/>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SUGGESTIONS</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A Practical Approach</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Text 3"/>
          <p:cNvSpPr/>
          <p:nvPr/>
        </p:nvSpPr>
        <p:spPr>
          <a:xfrm>
            <a:off x="548640" y="1417320"/>
            <a:ext cx="1097280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Simple rules, supported by the data and personal experience.</a:t>
            </a:r>
            <a:endParaRPr lang="en-US" sz="1400" dirty="0"/>
          </a:p>
        </p:txBody>
      </p:sp>
      <p:sp>
        <p:nvSpPr>
          <p:cNvPr id="6" name="Shape 4"/>
          <p:cNvSpPr/>
          <p:nvPr/>
        </p:nvSpPr>
        <p:spPr>
          <a:xfrm>
            <a:off x="594360" y="2103120"/>
            <a:ext cx="3291840" cy="3383280"/>
          </a:xfrm>
          <a:prstGeom prst="rect">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594360" y="2103120"/>
            <a:ext cx="3291840" cy="73152"/>
          </a:xfrm>
          <a:prstGeom prst="rect">
            <a:avLst/>
          </a:prstGeom>
          <a:solidFill>
            <a:srgbClr val="D4A744"/>
          </a:solidFill>
          <a:ln w="12700">
            <a:solidFill>
              <a:srgbClr val="D4A744"/>
            </a:solidFill>
            <a:prstDash val="solid"/>
          </a:ln>
        </p:spPr>
        <p:txBody>
          <a:bodyPr/>
          <a:lstStyle/>
          <a:p>
            <a:endParaRPr lang="en-US"/>
          </a:p>
        </p:txBody>
      </p:sp>
      <p:sp>
        <p:nvSpPr>
          <p:cNvPr id="8" name="Text 6"/>
          <p:cNvSpPr/>
          <p:nvPr/>
        </p:nvSpPr>
        <p:spPr>
          <a:xfrm>
            <a:off x="868680" y="2377440"/>
            <a:ext cx="1097280" cy="914400"/>
          </a:xfrm>
          <a:prstGeom prst="rect">
            <a:avLst/>
          </a:prstGeom>
          <a:noFill/>
          <a:ln/>
        </p:spPr>
        <p:txBody>
          <a:bodyPr wrap="square" lIns="0" tIns="0" rIns="0" bIns="0" rtlCol="0" anchor="ctr"/>
          <a:lstStyle/>
          <a:p>
            <a:pPr marL="0" indent="0">
              <a:buNone/>
            </a:pPr>
            <a:r>
              <a:rPr lang="en-US" sz="6400" b="1" dirty="0">
                <a:solidFill>
                  <a:srgbClr val="D4A744"/>
                </a:solidFill>
                <a:latin typeface="Georgia" pitchFamily="34" charset="0"/>
                <a:ea typeface="Georgia" pitchFamily="34" charset="-122"/>
                <a:cs typeface="Georgia" pitchFamily="34" charset="-120"/>
              </a:rPr>
              <a:t>1</a:t>
            </a:r>
            <a:endParaRPr lang="en-US" sz="6400" dirty="0"/>
          </a:p>
        </p:txBody>
      </p:sp>
      <p:pic>
        <p:nvPicPr>
          <p:cNvPr id="9" name="Image 0" descr="preencoded.png"/>
          <p:cNvPicPr>
            <a:picLocks noChangeAspect="1"/>
          </p:cNvPicPr>
          <p:nvPr/>
        </p:nvPicPr>
        <p:blipFill>
          <a:blip r:embed="rId3"/>
          <a:stretch>
            <a:fillRect/>
          </a:stretch>
        </p:blipFill>
        <p:spPr>
          <a:xfrm>
            <a:off x="3017520" y="2468880"/>
            <a:ext cx="502920" cy="502920"/>
          </a:xfrm>
          <a:prstGeom prst="rect">
            <a:avLst/>
          </a:prstGeom>
        </p:spPr>
      </p:pic>
      <p:sp>
        <p:nvSpPr>
          <p:cNvPr id="10" name="Text 7"/>
          <p:cNvSpPr/>
          <p:nvPr/>
        </p:nvSpPr>
        <p:spPr>
          <a:xfrm>
            <a:off x="868680" y="3383280"/>
            <a:ext cx="2743200" cy="411480"/>
          </a:xfrm>
          <a:prstGeom prst="rect">
            <a:avLst/>
          </a:prstGeom>
          <a:noFill/>
          <a:ln/>
        </p:spPr>
        <p:txBody>
          <a:bodyPr wrap="square" lIns="0" tIns="0" rIns="0" bIns="0" rtlCol="0" anchor="ctr"/>
          <a:lstStyle/>
          <a:p>
            <a:pPr marL="0" indent="0">
              <a:buNone/>
            </a:pPr>
            <a:r>
              <a:rPr lang="en-US" sz="1400" b="1" kern="0" spc="400" dirty="0">
                <a:solidFill>
                  <a:srgbClr val="9E7B1F"/>
                </a:solidFill>
                <a:latin typeface="Calibri" pitchFamily="34" charset="0"/>
                <a:ea typeface="Calibri" pitchFamily="34" charset="-122"/>
                <a:cs typeface="Calibri" pitchFamily="34" charset="-120"/>
              </a:rPr>
              <a:t>CREATE</a:t>
            </a:r>
            <a:endParaRPr lang="en-US" sz="1400" dirty="0"/>
          </a:p>
        </p:txBody>
      </p:sp>
      <p:sp>
        <p:nvSpPr>
          <p:cNvPr id="11" name="Text 8"/>
          <p:cNvSpPr/>
          <p:nvPr/>
        </p:nvSpPr>
        <p:spPr>
          <a:xfrm>
            <a:off x="868680" y="3794760"/>
            <a:ext cx="2743200" cy="548640"/>
          </a:xfrm>
          <a:prstGeom prst="rect">
            <a:avLst/>
          </a:prstGeom>
          <a:noFill/>
          <a:ln/>
        </p:spPr>
        <p:txBody>
          <a:bodyPr wrap="square" lIns="0" tIns="0" rIns="0" bIns="0" rtlCol="0" anchor="ctr"/>
          <a:lstStyle/>
          <a:p>
            <a:pPr marL="0" indent="0">
              <a:buNone/>
            </a:pPr>
            <a:r>
              <a:rPr lang="en-US" sz="2400" b="1" dirty="0">
                <a:solidFill>
                  <a:srgbClr val="0F1A24"/>
                </a:solidFill>
                <a:latin typeface="Georgia" pitchFamily="34" charset="0"/>
                <a:ea typeface="Georgia" pitchFamily="34" charset="-122"/>
                <a:cs typeface="Georgia" pitchFamily="34" charset="-120"/>
              </a:rPr>
              <a:t>You first.</a:t>
            </a:r>
            <a:endParaRPr lang="en-US" sz="2400" dirty="0"/>
          </a:p>
        </p:txBody>
      </p:sp>
      <p:sp>
        <p:nvSpPr>
          <p:cNvPr id="12" name="Text 9"/>
          <p:cNvSpPr/>
          <p:nvPr/>
        </p:nvSpPr>
        <p:spPr>
          <a:xfrm>
            <a:off x="868680" y="4434840"/>
            <a:ext cx="2743200" cy="9144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Outline. Draft. Sketch. Get your own thinking onto the page before any AI sees it.</a:t>
            </a:r>
            <a:endParaRPr lang="en-US" sz="1300" dirty="0"/>
          </a:p>
        </p:txBody>
      </p:sp>
      <p:sp>
        <p:nvSpPr>
          <p:cNvPr id="13" name="Text 10"/>
          <p:cNvSpPr/>
          <p:nvPr/>
        </p:nvSpPr>
        <p:spPr>
          <a:xfrm>
            <a:off x="3931920" y="3520440"/>
            <a:ext cx="457200" cy="548640"/>
          </a:xfrm>
          <a:prstGeom prst="rect">
            <a:avLst/>
          </a:prstGeom>
          <a:noFill/>
          <a:ln/>
        </p:spPr>
        <p:txBody>
          <a:bodyPr wrap="square" lIns="0" tIns="0" rIns="0" bIns="0" rtlCol="0" anchor="ctr"/>
          <a:lstStyle/>
          <a:p>
            <a:pPr marL="0" indent="0" algn="ctr">
              <a:buNone/>
            </a:pPr>
            <a:r>
              <a:rPr lang="en-US" sz="3200" b="1" dirty="0">
                <a:solidFill>
                  <a:srgbClr val="D4A744"/>
                </a:solidFill>
                <a:latin typeface="Georgia" pitchFamily="34" charset="0"/>
                <a:ea typeface="Georgia" pitchFamily="34" charset="-122"/>
                <a:cs typeface="Georgia" pitchFamily="34" charset="-120"/>
              </a:rPr>
              <a:t>→</a:t>
            </a:r>
            <a:endParaRPr lang="en-US" sz="3200" dirty="0"/>
          </a:p>
        </p:txBody>
      </p:sp>
      <p:sp>
        <p:nvSpPr>
          <p:cNvPr id="14" name="Shape 11"/>
          <p:cNvSpPr/>
          <p:nvPr/>
        </p:nvSpPr>
        <p:spPr>
          <a:xfrm>
            <a:off x="4434840" y="2103120"/>
            <a:ext cx="3291840" cy="3383280"/>
          </a:xfrm>
          <a:prstGeom prst="rect">
            <a:avLst/>
          </a:prstGeom>
          <a:solidFill>
            <a:srgbClr val="FFFFFF"/>
          </a:solidFill>
          <a:ln w="12700">
            <a:solidFill>
              <a:srgbClr val="E2E8F0"/>
            </a:solidFill>
            <a:prstDash val="solid"/>
          </a:ln>
        </p:spPr>
        <p:txBody>
          <a:bodyPr/>
          <a:lstStyle/>
          <a:p>
            <a:endParaRPr lang="en-US"/>
          </a:p>
        </p:txBody>
      </p:sp>
      <p:sp>
        <p:nvSpPr>
          <p:cNvPr id="15" name="Shape 12"/>
          <p:cNvSpPr/>
          <p:nvPr/>
        </p:nvSpPr>
        <p:spPr>
          <a:xfrm>
            <a:off x="4434840" y="2103120"/>
            <a:ext cx="3291840" cy="73152"/>
          </a:xfrm>
          <a:prstGeom prst="rect">
            <a:avLst/>
          </a:prstGeom>
          <a:solidFill>
            <a:srgbClr val="D4A744"/>
          </a:solidFill>
          <a:ln w="12700">
            <a:solidFill>
              <a:srgbClr val="D4A744"/>
            </a:solidFill>
            <a:prstDash val="solid"/>
          </a:ln>
        </p:spPr>
        <p:txBody>
          <a:bodyPr/>
          <a:lstStyle/>
          <a:p>
            <a:endParaRPr lang="en-US"/>
          </a:p>
        </p:txBody>
      </p:sp>
      <p:sp>
        <p:nvSpPr>
          <p:cNvPr id="16" name="Text 13"/>
          <p:cNvSpPr/>
          <p:nvPr/>
        </p:nvSpPr>
        <p:spPr>
          <a:xfrm>
            <a:off x="4709160" y="2377440"/>
            <a:ext cx="1097280" cy="914400"/>
          </a:xfrm>
          <a:prstGeom prst="rect">
            <a:avLst/>
          </a:prstGeom>
          <a:noFill/>
          <a:ln/>
        </p:spPr>
        <p:txBody>
          <a:bodyPr wrap="square" lIns="0" tIns="0" rIns="0" bIns="0" rtlCol="0" anchor="ctr"/>
          <a:lstStyle/>
          <a:p>
            <a:pPr marL="0" indent="0">
              <a:buNone/>
            </a:pPr>
            <a:r>
              <a:rPr lang="en-US" sz="6400" b="1" dirty="0">
                <a:solidFill>
                  <a:srgbClr val="D4A744"/>
                </a:solidFill>
                <a:latin typeface="Georgia" pitchFamily="34" charset="0"/>
                <a:ea typeface="Georgia" pitchFamily="34" charset="-122"/>
                <a:cs typeface="Georgia" pitchFamily="34" charset="-120"/>
              </a:rPr>
              <a:t>2</a:t>
            </a:r>
            <a:endParaRPr lang="en-US" sz="6400" dirty="0"/>
          </a:p>
        </p:txBody>
      </p:sp>
      <p:pic>
        <p:nvPicPr>
          <p:cNvPr id="17" name="Image 1" descr="preencoded.png"/>
          <p:cNvPicPr>
            <a:picLocks noChangeAspect="1"/>
          </p:cNvPicPr>
          <p:nvPr/>
        </p:nvPicPr>
        <p:blipFill>
          <a:blip r:embed="rId4"/>
          <a:stretch>
            <a:fillRect/>
          </a:stretch>
        </p:blipFill>
        <p:spPr>
          <a:xfrm>
            <a:off x="6858000" y="2468880"/>
            <a:ext cx="502920" cy="502920"/>
          </a:xfrm>
          <a:prstGeom prst="rect">
            <a:avLst/>
          </a:prstGeom>
        </p:spPr>
      </p:pic>
      <p:sp>
        <p:nvSpPr>
          <p:cNvPr id="18" name="Text 14"/>
          <p:cNvSpPr/>
          <p:nvPr/>
        </p:nvSpPr>
        <p:spPr>
          <a:xfrm>
            <a:off x="4709160" y="3383280"/>
            <a:ext cx="2743200" cy="411480"/>
          </a:xfrm>
          <a:prstGeom prst="rect">
            <a:avLst/>
          </a:prstGeom>
          <a:noFill/>
          <a:ln/>
        </p:spPr>
        <p:txBody>
          <a:bodyPr wrap="square" lIns="0" tIns="0" rIns="0" bIns="0" rtlCol="0" anchor="ctr"/>
          <a:lstStyle/>
          <a:p>
            <a:pPr marL="0" indent="0">
              <a:buNone/>
            </a:pPr>
            <a:r>
              <a:rPr lang="en-US" sz="1400" b="1" kern="0" spc="400" dirty="0">
                <a:solidFill>
                  <a:srgbClr val="9E7B1F"/>
                </a:solidFill>
                <a:latin typeface="Calibri" pitchFamily="34" charset="0"/>
                <a:ea typeface="Calibri" pitchFamily="34" charset="-122"/>
                <a:cs typeface="Calibri" pitchFamily="34" charset="-120"/>
              </a:rPr>
              <a:t>REVISE</a:t>
            </a:r>
            <a:endParaRPr lang="en-US" sz="1400" dirty="0"/>
          </a:p>
        </p:txBody>
      </p:sp>
      <p:sp>
        <p:nvSpPr>
          <p:cNvPr id="19" name="Text 15"/>
          <p:cNvSpPr/>
          <p:nvPr/>
        </p:nvSpPr>
        <p:spPr>
          <a:xfrm>
            <a:off x="4709160" y="3794760"/>
            <a:ext cx="2743200" cy="548640"/>
          </a:xfrm>
          <a:prstGeom prst="rect">
            <a:avLst/>
          </a:prstGeom>
          <a:noFill/>
          <a:ln/>
        </p:spPr>
        <p:txBody>
          <a:bodyPr wrap="square" lIns="0" tIns="0" rIns="0" bIns="0" rtlCol="0" anchor="ctr"/>
          <a:lstStyle/>
          <a:p>
            <a:pPr marL="0" indent="0">
              <a:buNone/>
            </a:pPr>
            <a:r>
              <a:rPr lang="en-US" sz="2400" b="1" dirty="0">
                <a:solidFill>
                  <a:srgbClr val="0F1A24"/>
                </a:solidFill>
                <a:latin typeface="Georgia" pitchFamily="34" charset="0"/>
                <a:ea typeface="Georgia" pitchFamily="34" charset="-122"/>
                <a:cs typeface="Georgia" pitchFamily="34" charset="-120"/>
              </a:rPr>
              <a:t>AI second.</a:t>
            </a:r>
            <a:endParaRPr lang="en-US" sz="2400" dirty="0"/>
          </a:p>
        </p:txBody>
      </p:sp>
      <p:sp>
        <p:nvSpPr>
          <p:cNvPr id="20" name="Text 16"/>
          <p:cNvSpPr/>
          <p:nvPr/>
        </p:nvSpPr>
        <p:spPr>
          <a:xfrm>
            <a:off x="4709160" y="4434840"/>
            <a:ext cx="2743200" cy="9144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Now bring AI in. Ask it to critique, suggest, expand, or polish what you've built.</a:t>
            </a:r>
            <a:endParaRPr lang="en-US" sz="1300" dirty="0"/>
          </a:p>
        </p:txBody>
      </p:sp>
      <p:sp>
        <p:nvSpPr>
          <p:cNvPr id="21" name="Text 17"/>
          <p:cNvSpPr/>
          <p:nvPr/>
        </p:nvSpPr>
        <p:spPr>
          <a:xfrm>
            <a:off x="7772400" y="3520440"/>
            <a:ext cx="457200" cy="548640"/>
          </a:xfrm>
          <a:prstGeom prst="rect">
            <a:avLst/>
          </a:prstGeom>
          <a:noFill/>
          <a:ln/>
        </p:spPr>
        <p:txBody>
          <a:bodyPr wrap="square" lIns="0" tIns="0" rIns="0" bIns="0" rtlCol="0" anchor="ctr"/>
          <a:lstStyle/>
          <a:p>
            <a:pPr marL="0" indent="0" algn="ctr">
              <a:buNone/>
            </a:pPr>
            <a:r>
              <a:rPr lang="en-US" sz="3200" b="1" dirty="0">
                <a:solidFill>
                  <a:srgbClr val="D4A744"/>
                </a:solidFill>
                <a:latin typeface="Georgia" pitchFamily="34" charset="0"/>
                <a:ea typeface="Georgia" pitchFamily="34" charset="-122"/>
                <a:cs typeface="Georgia" pitchFamily="34" charset="-120"/>
              </a:rPr>
              <a:t>→</a:t>
            </a:r>
            <a:endParaRPr lang="en-US" sz="3200" dirty="0"/>
          </a:p>
        </p:txBody>
      </p:sp>
      <p:sp>
        <p:nvSpPr>
          <p:cNvPr id="22" name="Shape 18"/>
          <p:cNvSpPr/>
          <p:nvPr/>
        </p:nvSpPr>
        <p:spPr>
          <a:xfrm>
            <a:off x="8275320" y="2103120"/>
            <a:ext cx="3291840" cy="3383280"/>
          </a:xfrm>
          <a:prstGeom prst="rect">
            <a:avLst/>
          </a:prstGeom>
          <a:solidFill>
            <a:srgbClr val="FFFFFF"/>
          </a:solidFill>
          <a:ln w="12700">
            <a:solidFill>
              <a:srgbClr val="E2E8F0"/>
            </a:solidFill>
            <a:prstDash val="solid"/>
          </a:ln>
        </p:spPr>
        <p:txBody>
          <a:bodyPr/>
          <a:lstStyle/>
          <a:p>
            <a:endParaRPr lang="en-US"/>
          </a:p>
        </p:txBody>
      </p:sp>
      <p:sp>
        <p:nvSpPr>
          <p:cNvPr id="23" name="Shape 19"/>
          <p:cNvSpPr/>
          <p:nvPr/>
        </p:nvSpPr>
        <p:spPr>
          <a:xfrm>
            <a:off x="8275320" y="2103120"/>
            <a:ext cx="3291840" cy="73152"/>
          </a:xfrm>
          <a:prstGeom prst="rect">
            <a:avLst/>
          </a:prstGeom>
          <a:solidFill>
            <a:srgbClr val="D4A744"/>
          </a:solidFill>
          <a:ln w="12700">
            <a:solidFill>
              <a:srgbClr val="D4A744"/>
            </a:solidFill>
            <a:prstDash val="solid"/>
          </a:ln>
        </p:spPr>
        <p:txBody>
          <a:bodyPr/>
          <a:lstStyle/>
          <a:p>
            <a:endParaRPr lang="en-US"/>
          </a:p>
        </p:txBody>
      </p:sp>
      <p:sp>
        <p:nvSpPr>
          <p:cNvPr id="24" name="Text 20"/>
          <p:cNvSpPr/>
          <p:nvPr/>
        </p:nvSpPr>
        <p:spPr>
          <a:xfrm>
            <a:off x="8549640" y="2377440"/>
            <a:ext cx="1097280" cy="914400"/>
          </a:xfrm>
          <a:prstGeom prst="rect">
            <a:avLst/>
          </a:prstGeom>
          <a:noFill/>
          <a:ln/>
        </p:spPr>
        <p:txBody>
          <a:bodyPr wrap="square" lIns="0" tIns="0" rIns="0" bIns="0" rtlCol="0" anchor="ctr"/>
          <a:lstStyle/>
          <a:p>
            <a:pPr marL="0" indent="0">
              <a:buNone/>
            </a:pPr>
            <a:r>
              <a:rPr lang="en-US" sz="6400" b="1" dirty="0">
                <a:solidFill>
                  <a:srgbClr val="D4A744"/>
                </a:solidFill>
                <a:latin typeface="Georgia" pitchFamily="34" charset="0"/>
                <a:ea typeface="Georgia" pitchFamily="34" charset="-122"/>
                <a:cs typeface="Georgia" pitchFamily="34" charset="-120"/>
              </a:rPr>
              <a:t>3</a:t>
            </a:r>
            <a:endParaRPr lang="en-US" sz="6400" dirty="0"/>
          </a:p>
        </p:txBody>
      </p:sp>
      <p:pic>
        <p:nvPicPr>
          <p:cNvPr id="25" name="Image 2" descr="preencoded.png"/>
          <p:cNvPicPr>
            <a:picLocks noChangeAspect="1"/>
          </p:cNvPicPr>
          <p:nvPr/>
        </p:nvPicPr>
        <p:blipFill>
          <a:blip r:embed="rId5"/>
          <a:stretch>
            <a:fillRect/>
          </a:stretch>
        </p:blipFill>
        <p:spPr>
          <a:xfrm>
            <a:off x="10698480" y="2468880"/>
            <a:ext cx="502920" cy="502920"/>
          </a:xfrm>
          <a:prstGeom prst="rect">
            <a:avLst/>
          </a:prstGeom>
        </p:spPr>
      </p:pic>
      <p:sp>
        <p:nvSpPr>
          <p:cNvPr id="26" name="Text 21"/>
          <p:cNvSpPr/>
          <p:nvPr/>
        </p:nvSpPr>
        <p:spPr>
          <a:xfrm>
            <a:off x="8549640" y="3383280"/>
            <a:ext cx="2743200" cy="411480"/>
          </a:xfrm>
          <a:prstGeom prst="rect">
            <a:avLst/>
          </a:prstGeom>
          <a:noFill/>
          <a:ln/>
        </p:spPr>
        <p:txBody>
          <a:bodyPr wrap="square" lIns="0" tIns="0" rIns="0" bIns="0" rtlCol="0" anchor="ctr"/>
          <a:lstStyle/>
          <a:p>
            <a:pPr marL="0" indent="0">
              <a:buNone/>
            </a:pPr>
            <a:r>
              <a:rPr lang="en-US" sz="1400" b="1" kern="0" spc="400" dirty="0">
                <a:solidFill>
                  <a:srgbClr val="9E7B1F"/>
                </a:solidFill>
                <a:latin typeface="Calibri" pitchFamily="34" charset="0"/>
                <a:ea typeface="Calibri" pitchFamily="34" charset="-122"/>
                <a:cs typeface="Calibri" pitchFamily="34" charset="-120"/>
              </a:rPr>
              <a:t>VERIFY</a:t>
            </a:r>
            <a:endParaRPr lang="en-US" sz="1400" dirty="0"/>
          </a:p>
        </p:txBody>
      </p:sp>
      <p:sp>
        <p:nvSpPr>
          <p:cNvPr id="27" name="Text 22"/>
          <p:cNvSpPr/>
          <p:nvPr/>
        </p:nvSpPr>
        <p:spPr>
          <a:xfrm>
            <a:off x="8549640" y="3794760"/>
            <a:ext cx="2743200" cy="548640"/>
          </a:xfrm>
          <a:prstGeom prst="rect">
            <a:avLst/>
          </a:prstGeom>
          <a:noFill/>
          <a:ln/>
        </p:spPr>
        <p:txBody>
          <a:bodyPr wrap="square" lIns="0" tIns="0" rIns="0" bIns="0" rtlCol="0" anchor="ctr"/>
          <a:lstStyle/>
          <a:p>
            <a:pPr marL="0" indent="0">
              <a:buNone/>
            </a:pPr>
            <a:r>
              <a:rPr lang="en-US" sz="2400" b="1" dirty="0">
                <a:solidFill>
                  <a:srgbClr val="0F1A24"/>
                </a:solidFill>
                <a:latin typeface="Georgia" pitchFamily="34" charset="0"/>
                <a:ea typeface="Georgia" pitchFamily="34" charset="-122"/>
                <a:cs typeface="Georgia" pitchFamily="34" charset="-120"/>
              </a:rPr>
              <a:t>You last.</a:t>
            </a:r>
            <a:endParaRPr lang="en-US" sz="2400" dirty="0"/>
          </a:p>
        </p:txBody>
      </p:sp>
      <p:sp>
        <p:nvSpPr>
          <p:cNvPr id="28" name="Text 23"/>
          <p:cNvSpPr/>
          <p:nvPr/>
        </p:nvSpPr>
        <p:spPr>
          <a:xfrm>
            <a:off x="8549640" y="4434840"/>
            <a:ext cx="2743200" cy="91440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Check the AI's work. It will be confidently wrong some of the time. Catching errors is your responsibility.</a:t>
            </a:r>
            <a:endParaRPr lang="en-US" sz="1300" dirty="0"/>
          </a:p>
        </p:txBody>
      </p:sp>
      <p:sp>
        <p:nvSpPr>
          <p:cNvPr id="29" name="Text 24"/>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30" name="Text 25"/>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4"/>
        </a:solidFill>
        <a:effectLst/>
      </p:bgPr>
    </p:bg>
    <p:spTree>
      <p:nvGrpSpPr>
        <p:cNvPr id="1" name=""/>
        <p:cNvGrpSpPr/>
        <p:nvPr/>
      </p:nvGrpSpPr>
      <p:grpSpPr>
        <a:xfrm>
          <a:off x="0" y="0"/>
          <a:ext cx="0" cy="0"/>
          <a:chOff x="0" y="0"/>
          <a:chExt cx="0" cy="0"/>
        </a:xfrm>
      </p:grpSpPr>
      <p:sp>
        <p:nvSpPr>
          <p:cNvPr id="2" name="Shape 0"/>
          <p:cNvSpPr/>
          <p:nvPr/>
        </p:nvSpPr>
        <p:spPr>
          <a:xfrm>
            <a:off x="10058400" y="5669280"/>
            <a:ext cx="164592" cy="914400"/>
          </a:xfrm>
          <a:prstGeom prst="rect">
            <a:avLst/>
          </a:prstGeom>
          <a:solidFill>
            <a:srgbClr val="1F3A4D">
              <a:alpha val="70000"/>
            </a:srgbClr>
          </a:solidFill>
          <a:ln w="12700">
            <a:solidFill>
              <a:srgbClr val="1F3A4D"/>
            </a:solidFill>
            <a:prstDash val="solid"/>
          </a:ln>
        </p:spPr>
        <p:txBody>
          <a:bodyPr/>
          <a:lstStyle/>
          <a:p>
            <a:endParaRPr lang="en-US"/>
          </a:p>
        </p:txBody>
      </p:sp>
      <p:sp>
        <p:nvSpPr>
          <p:cNvPr id="3" name="Shape 1"/>
          <p:cNvSpPr/>
          <p:nvPr/>
        </p:nvSpPr>
        <p:spPr>
          <a:xfrm>
            <a:off x="10351008" y="5394960"/>
            <a:ext cx="164592" cy="1463040"/>
          </a:xfrm>
          <a:prstGeom prst="rect">
            <a:avLst/>
          </a:prstGeom>
          <a:solidFill>
            <a:srgbClr val="2A1F1F">
              <a:alpha val="70000"/>
            </a:srgbClr>
          </a:solidFill>
          <a:ln w="12700">
            <a:solidFill>
              <a:srgbClr val="2A1F1F"/>
            </a:solidFill>
            <a:prstDash val="solid"/>
          </a:ln>
        </p:spPr>
        <p:txBody>
          <a:bodyPr/>
          <a:lstStyle/>
          <a:p>
            <a:endParaRPr lang="en-US"/>
          </a:p>
        </p:txBody>
      </p:sp>
      <p:sp>
        <p:nvSpPr>
          <p:cNvPr id="4" name="Shape 2"/>
          <p:cNvSpPr/>
          <p:nvPr/>
        </p:nvSpPr>
        <p:spPr>
          <a:xfrm>
            <a:off x="10643616" y="5760720"/>
            <a:ext cx="164592" cy="731520"/>
          </a:xfrm>
          <a:prstGeom prst="rect">
            <a:avLst/>
          </a:prstGeom>
          <a:solidFill>
            <a:srgbClr val="1F3A4D">
              <a:alpha val="70000"/>
            </a:srgbClr>
          </a:solidFill>
          <a:ln w="12700">
            <a:solidFill>
              <a:srgbClr val="1F3A4D"/>
            </a:solidFill>
            <a:prstDash val="solid"/>
          </a:ln>
        </p:spPr>
        <p:txBody>
          <a:bodyPr/>
          <a:lstStyle/>
          <a:p>
            <a:endParaRPr lang="en-US"/>
          </a:p>
        </p:txBody>
      </p:sp>
      <p:sp>
        <p:nvSpPr>
          <p:cNvPr id="5" name="Shape 3"/>
          <p:cNvSpPr/>
          <p:nvPr/>
        </p:nvSpPr>
        <p:spPr>
          <a:xfrm>
            <a:off x="10936224" y="5532120"/>
            <a:ext cx="164592" cy="1188720"/>
          </a:xfrm>
          <a:prstGeom prst="rect">
            <a:avLst/>
          </a:prstGeom>
          <a:solidFill>
            <a:srgbClr val="1F3A4D">
              <a:alpha val="70000"/>
            </a:srgbClr>
          </a:solidFill>
          <a:ln w="12700">
            <a:solidFill>
              <a:srgbClr val="1F3A4D"/>
            </a:solidFill>
            <a:prstDash val="solid"/>
          </a:ln>
        </p:spPr>
        <p:txBody>
          <a:bodyPr/>
          <a:lstStyle/>
          <a:p>
            <a:endParaRPr lang="en-US"/>
          </a:p>
        </p:txBody>
      </p:sp>
      <p:sp>
        <p:nvSpPr>
          <p:cNvPr id="6" name="Shape 4"/>
          <p:cNvSpPr/>
          <p:nvPr/>
        </p:nvSpPr>
        <p:spPr>
          <a:xfrm>
            <a:off x="11228832" y="5303520"/>
            <a:ext cx="164592" cy="1645920"/>
          </a:xfrm>
          <a:prstGeom prst="rect">
            <a:avLst/>
          </a:prstGeom>
          <a:solidFill>
            <a:srgbClr val="1F3A4D">
              <a:alpha val="70000"/>
            </a:srgbClr>
          </a:solidFill>
          <a:ln w="12700">
            <a:solidFill>
              <a:srgbClr val="1F3A4D"/>
            </a:solidFill>
            <a:prstDash val="solid"/>
          </a:ln>
        </p:spPr>
        <p:txBody>
          <a:bodyPr/>
          <a:lstStyle/>
          <a:p>
            <a:endParaRPr lang="en-US"/>
          </a:p>
        </p:txBody>
      </p:sp>
      <p:sp>
        <p:nvSpPr>
          <p:cNvPr id="7" name="Shape 5"/>
          <p:cNvSpPr/>
          <p:nvPr/>
        </p:nvSpPr>
        <p:spPr>
          <a:xfrm>
            <a:off x="11521440" y="5715000"/>
            <a:ext cx="164592" cy="822960"/>
          </a:xfrm>
          <a:prstGeom prst="rect">
            <a:avLst/>
          </a:prstGeom>
          <a:solidFill>
            <a:srgbClr val="2A1F1F">
              <a:alpha val="70000"/>
            </a:srgbClr>
          </a:solidFill>
          <a:ln w="12700">
            <a:solidFill>
              <a:srgbClr val="2A1F1F"/>
            </a:solidFill>
            <a:prstDash val="solid"/>
          </a:ln>
        </p:spPr>
        <p:txBody>
          <a:bodyPr/>
          <a:lstStyle/>
          <a:p>
            <a:endParaRPr lang="en-US"/>
          </a:p>
        </p:txBody>
      </p:sp>
      <p:sp>
        <p:nvSpPr>
          <p:cNvPr id="8" name="Shape 6"/>
          <p:cNvSpPr/>
          <p:nvPr/>
        </p:nvSpPr>
        <p:spPr>
          <a:xfrm>
            <a:off x="11814048" y="5486400"/>
            <a:ext cx="164592" cy="1280160"/>
          </a:xfrm>
          <a:prstGeom prst="rect">
            <a:avLst/>
          </a:prstGeom>
          <a:solidFill>
            <a:srgbClr val="1F3A4D">
              <a:alpha val="70000"/>
            </a:srgbClr>
          </a:solidFill>
          <a:ln w="12700">
            <a:solidFill>
              <a:srgbClr val="1F3A4D"/>
            </a:solidFill>
            <a:prstDash val="solid"/>
          </a:ln>
        </p:spPr>
        <p:txBody>
          <a:bodyPr/>
          <a:lstStyle/>
          <a:p>
            <a:endParaRPr lang="en-US"/>
          </a:p>
        </p:txBody>
      </p:sp>
      <p:sp>
        <p:nvSpPr>
          <p:cNvPr id="9" name="Text 7"/>
          <p:cNvSpPr/>
          <p:nvPr/>
        </p:nvSpPr>
        <p:spPr>
          <a:xfrm>
            <a:off x="731520" y="640080"/>
            <a:ext cx="7315200" cy="274320"/>
          </a:xfrm>
          <a:prstGeom prst="rect">
            <a:avLst/>
          </a:prstGeom>
          <a:noFill/>
          <a:ln/>
        </p:spPr>
        <p:txBody>
          <a:bodyPr wrap="square" lIns="0" tIns="0" rIns="0" bIns="0" rtlCol="0" anchor="ctr"/>
          <a:lstStyle/>
          <a:p>
            <a:pPr marL="0" indent="0">
              <a:buNone/>
            </a:pPr>
            <a:r>
              <a:rPr lang="en-US" sz="1200" b="1" kern="0" spc="600" dirty="0">
                <a:solidFill>
                  <a:srgbClr val="D4A744"/>
                </a:solidFill>
                <a:latin typeface="Calibri" pitchFamily="34" charset="0"/>
                <a:ea typeface="Calibri" pitchFamily="34" charset="-122"/>
                <a:cs typeface="Calibri" pitchFamily="34" charset="-120"/>
              </a:rPr>
              <a:t>CLOSING</a:t>
            </a:r>
            <a:endParaRPr lang="en-US" sz="1200" dirty="0"/>
          </a:p>
        </p:txBody>
      </p:sp>
      <p:sp>
        <p:nvSpPr>
          <p:cNvPr id="10" name="Text 8"/>
          <p:cNvSpPr/>
          <p:nvPr/>
        </p:nvSpPr>
        <p:spPr>
          <a:xfrm>
            <a:off x="731520" y="1280160"/>
            <a:ext cx="10515600" cy="2377440"/>
          </a:xfrm>
          <a:prstGeom prst="rect">
            <a:avLst/>
          </a:prstGeom>
          <a:noFill/>
          <a:ln/>
        </p:spPr>
        <p:txBody>
          <a:bodyPr wrap="square" lIns="0" tIns="0" rIns="0" bIns="0" rtlCol="0" anchor="ctr"/>
          <a:lstStyle/>
          <a:p>
            <a:pPr marL="0" indent="0">
              <a:buNone/>
            </a:pPr>
            <a:r>
              <a:rPr lang="en-US" sz="2600" i="1" dirty="0">
                <a:solidFill>
                  <a:srgbClr val="FFFFFF"/>
                </a:solidFill>
                <a:latin typeface="Georgia" pitchFamily="34" charset="0"/>
                <a:ea typeface="Georgia" pitchFamily="34" charset="-122"/>
                <a:cs typeface="Georgia" pitchFamily="34" charset="-120"/>
              </a:rPr>
              <a:t>Predicting where AI will be in twenty years based on current tech</a:t>
            </a:r>
            <a:endParaRPr lang="en-US" sz="2600" dirty="0"/>
          </a:p>
          <a:p>
            <a:pPr marL="0" indent="0">
              <a:buNone/>
            </a:pPr>
            <a:r>
              <a:rPr lang="en-US" sz="2600" i="1" dirty="0">
                <a:solidFill>
                  <a:srgbClr val="E8E5DD"/>
                </a:solidFill>
                <a:latin typeface="Georgia" pitchFamily="34" charset="0"/>
                <a:ea typeface="Georgia" pitchFamily="34" charset="-122"/>
                <a:cs typeface="Georgia" pitchFamily="34" charset="-120"/>
              </a:rPr>
              <a:t>is like asking a Victorian-era engineer to accurately predict the processes and technologies needed for a </a:t>
            </a:r>
            <a:r>
              <a:rPr lang="en-US" sz="2600" b="1" i="1" dirty="0">
                <a:solidFill>
                  <a:srgbClr val="D4A744"/>
                </a:solidFill>
                <a:latin typeface="Georgia" pitchFamily="34" charset="0"/>
                <a:ea typeface="Georgia" pitchFamily="34" charset="-122"/>
                <a:cs typeface="Georgia" pitchFamily="34" charset="-120"/>
              </a:rPr>
              <a:t>crewed moon mission</a:t>
            </a:r>
            <a:br>
              <a:rPr lang="en-US" sz="2600" b="1" i="1" dirty="0">
                <a:solidFill>
                  <a:srgbClr val="D4A744"/>
                </a:solidFill>
                <a:latin typeface="Georgia" pitchFamily="34" charset="0"/>
                <a:ea typeface="Georgia" pitchFamily="34" charset="-122"/>
                <a:cs typeface="Georgia" pitchFamily="34" charset="-120"/>
              </a:rPr>
            </a:br>
            <a:r>
              <a:rPr lang="en-US" sz="2600" i="1" dirty="0">
                <a:solidFill>
                  <a:srgbClr val="E8E5DD"/>
                </a:solidFill>
                <a:latin typeface="Georgia" pitchFamily="34" charset="0"/>
                <a:ea typeface="Georgia" pitchFamily="34" charset="-122"/>
                <a:cs typeface="Georgia" pitchFamily="34" charset="-120"/>
              </a:rPr>
              <a:t>based on their knowledge of </a:t>
            </a:r>
            <a:r>
              <a:rPr lang="en-US" sz="2600" b="1" i="1" dirty="0">
                <a:solidFill>
                  <a:srgbClr val="D4A744"/>
                </a:solidFill>
                <a:latin typeface="Georgia" pitchFamily="34" charset="0"/>
                <a:ea typeface="Georgia" pitchFamily="34" charset="-122"/>
                <a:cs typeface="Georgia" pitchFamily="34" charset="-120"/>
              </a:rPr>
              <a:t>steam engines</a:t>
            </a:r>
            <a:r>
              <a:rPr lang="en-US" sz="2600" b="1" i="1" dirty="0">
                <a:solidFill>
                  <a:schemeClr val="bg1"/>
                </a:solidFill>
                <a:latin typeface="Georgia" pitchFamily="34" charset="0"/>
                <a:ea typeface="Georgia" pitchFamily="34" charset="-122"/>
                <a:cs typeface="Georgia" pitchFamily="34" charset="-120"/>
              </a:rPr>
              <a:t>.</a:t>
            </a:r>
            <a:endParaRPr lang="en-US" sz="2600" b="1" dirty="0">
              <a:solidFill>
                <a:schemeClr val="bg1"/>
              </a:solidFill>
            </a:endParaRPr>
          </a:p>
        </p:txBody>
      </p:sp>
      <p:sp>
        <p:nvSpPr>
          <p:cNvPr id="11" name="Shape 9"/>
          <p:cNvSpPr/>
          <p:nvPr/>
        </p:nvSpPr>
        <p:spPr>
          <a:xfrm>
            <a:off x="731520" y="3840480"/>
            <a:ext cx="914400" cy="54864"/>
          </a:xfrm>
          <a:prstGeom prst="rect">
            <a:avLst/>
          </a:prstGeom>
          <a:solidFill>
            <a:srgbClr val="D4A744"/>
          </a:solidFill>
          <a:ln w="12700">
            <a:solidFill>
              <a:srgbClr val="D4A744"/>
            </a:solidFill>
            <a:prstDash val="solid"/>
          </a:ln>
        </p:spPr>
        <p:txBody>
          <a:bodyPr/>
          <a:lstStyle/>
          <a:p>
            <a:endParaRPr lang="en-US"/>
          </a:p>
        </p:txBody>
      </p:sp>
      <p:sp>
        <p:nvSpPr>
          <p:cNvPr id="12" name="Text 10"/>
          <p:cNvSpPr/>
          <p:nvPr/>
        </p:nvSpPr>
        <p:spPr>
          <a:xfrm>
            <a:off x="731520" y="406908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Engagement.</a:t>
            </a:r>
            <a:endParaRPr lang="en-US" sz="3000" dirty="0"/>
          </a:p>
        </p:txBody>
      </p:sp>
      <p:sp>
        <p:nvSpPr>
          <p:cNvPr id="13" name="Text 11"/>
          <p:cNvSpPr/>
          <p:nvPr/>
        </p:nvSpPr>
        <p:spPr>
          <a:xfrm>
            <a:off x="731520" y="4846320"/>
            <a:ext cx="2423160" cy="411480"/>
          </a:xfrm>
          <a:prstGeom prst="rect">
            <a:avLst/>
          </a:prstGeom>
          <a:noFill/>
          <a:ln/>
        </p:spPr>
        <p:txBody>
          <a:bodyPr wrap="square" lIns="0" tIns="0" rIns="0" bIns="0" rtlCol="0" anchor="ctr"/>
          <a:lstStyle/>
          <a:p>
            <a:pPr marL="0" indent="0">
              <a:buNone/>
            </a:pPr>
            <a:r>
              <a:rPr lang="en-US" sz="1400" b="1" i="1" dirty="0">
                <a:solidFill>
                  <a:srgbClr val="D4A744"/>
                </a:solidFill>
                <a:latin typeface="Calibri" pitchFamily="34" charset="0"/>
                <a:ea typeface="Calibri" pitchFamily="34" charset="-122"/>
                <a:cs typeface="Calibri" pitchFamily="34" charset="-120"/>
              </a:rPr>
              <a:t>Stay curious.</a:t>
            </a:r>
            <a:endParaRPr lang="en-US" sz="1400" dirty="0"/>
          </a:p>
        </p:txBody>
      </p:sp>
      <p:sp>
        <p:nvSpPr>
          <p:cNvPr id="14" name="Text 12"/>
          <p:cNvSpPr/>
          <p:nvPr/>
        </p:nvSpPr>
        <p:spPr>
          <a:xfrm>
            <a:off x="2883810" y="4846320"/>
            <a:ext cx="2423160" cy="411480"/>
          </a:xfrm>
          <a:prstGeom prst="rect">
            <a:avLst/>
          </a:prstGeom>
          <a:noFill/>
          <a:ln/>
        </p:spPr>
        <p:txBody>
          <a:bodyPr wrap="square" lIns="0" tIns="0" rIns="0" bIns="0" rtlCol="0" anchor="ctr"/>
          <a:lstStyle/>
          <a:p>
            <a:pPr marL="0" indent="0">
              <a:buNone/>
            </a:pPr>
            <a:r>
              <a:rPr lang="en-US" sz="1400" b="1" i="1" dirty="0">
                <a:solidFill>
                  <a:srgbClr val="D4A744"/>
                </a:solidFill>
                <a:latin typeface="Calibri" pitchFamily="34" charset="0"/>
                <a:ea typeface="Calibri" pitchFamily="34" charset="-122"/>
                <a:cs typeface="Calibri" pitchFamily="34" charset="-120"/>
              </a:rPr>
              <a:t>Think critically.</a:t>
            </a:r>
            <a:endParaRPr lang="en-US" sz="1400" dirty="0"/>
          </a:p>
        </p:txBody>
      </p:sp>
      <p:sp>
        <p:nvSpPr>
          <p:cNvPr id="15" name="Text 13"/>
          <p:cNvSpPr/>
          <p:nvPr/>
        </p:nvSpPr>
        <p:spPr>
          <a:xfrm>
            <a:off x="5363906" y="4846320"/>
            <a:ext cx="2423160" cy="411480"/>
          </a:xfrm>
          <a:prstGeom prst="rect">
            <a:avLst/>
          </a:prstGeom>
          <a:noFill/>
          <a:ln/>
        </p:spPr>
        <p:txBody>
          <a:bodyPr wrap="square" lIns="0" tIns="0" rIns="0" bIns="0" rtlCol="0" anchor="ctr"/>
          <a:lstStyle/>
          <a:p>
            <a:pPr marL="0" indent="0">
              <a:buNone/>
            </a:pPr>
            <a:r>
              <a:rPr lang="en-US" sz="1400" b="1" i="1" dirty="0">
                <a:solidFill>
                  <a:srgbClr val="D4A744"/>
                </a:solidFill>
                <a:latin typeface="Calibri" pitchFamily="34" charset="0"/>
                <a:ea typeface="Calibri" pitchFamily="34" charset="-122"/>
                <a:cs typeface="Calibri" pitchFamily="34" charset="-120"/>
              </a:rPr>
              <a:t>Make human connections.</a:t>
            </a:r>
            <a:endParaRPr lang="en-US" sz="1400" dirty="0"/>
          </a:p>
        </p:txBody>
      </p:sp>
      <p:sp>
        <p:nvSpPr>
          <p:cNvPr id="16" name="Text 14"/>
          <p:cNvSpPr/>
          <p:nvPr/>
        </p:nvSpPr>
        <p:spPr>
          <a:xfrm>
            <a:off x="8542736" y="4846320"/>
            <a:ext cx="2423160" cy="411480"/>
          </a:xfrm>
          <a:prstGeom prst="rect">
            <a:avLst/>
          </a:prstGeom>
          <a:noFill/>
          <a:ln/>
        </p:spPr>
        <p:txBody>
          <a:bodyPr wrap="square" lIns="0" tIns="0" rIns="0" bIns="0" rtlCol="0" anchor="ctr"/>
          <a:lstStyle/>
          <a:p>
            <a:pPr marL="0" indent="0">
              <a:buNone/>
            </a:pPr>
            <a:r>
              <a:rPr lang="en-US" sz="1400" b="1" i="1" dirty="0">
                <a:solidFill>
                  <a:srgbClr val="D4A744"/>
                </a:solidFill>
                <a:latin typeface="Calibri" pitchFamily="34" charset="0"/>
                <a:ea typeface="Calibri" pitchFamily="34" charset="-122"/>
                <a:cs typeface="Calibri" pitchFamily="34" charset="-120"/>
              </a:rPr>
              <a:t>Exercise your creativity.</a:t>
            </a:r>
            <a:endParaRPr lang="en-US" sz="1400" dirty="0"/>
          </a:p>
        </p:txBody>
      </p:sp>
      <p:sp>
        <p:nvSpPr>
          <p:cNvPr id="17" name="Text 15"/>
          <p:cNvSpPr/>
          <p:nvPr/>
        </p:nvSpPr>
        <p:spPr>
          <a:xfrm>
            <a:off x="731520" y="594360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Thank you.</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VISIT MY FACULTY PAGE</a:t>
            </a:r>
            <a:endParaRPr lang="en-US" sz="11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200" b="1" dirty="0">
                <a:solidFill>
                  <a:srgbClr val="0F1A24"/>
                </a:solidFill>
                <a:latin typeface="Georgia" pitchFamily="34" charset="0"/>
                <a:ea typeface="Georgia" pitchFamily="34" charset="-122"/>
                <a:cs typeface="Georgia" pitchFamily="34" charset="-120"/>
              </a:rPr>
              <a:t>Resources &amp; Further Reading</a:t>
            </a:r>
            <a:endParaRPr lang="en-US" sz="3200" dirty="0"/>
          </a:p>
        </p:txBody>
      </p:sp>
      <p:sp>
        <p:nvSpPr>
          <p:cNvPr id="4" name="Shape 2"/>
          <p:cNvSpPr/>
          <p:nvPr/>
        </p:nvSpPr>
        <p:spPr>
          <a:xfrm>
            <a:off x="548640" y="1325880"/>
            <a:ext cx="457200" cy="45720"/>
          </a:xfrm>
          <a:prstGeom prst="rect">
            <a:avLst/>
          </a:prstGeom>
          <a:solidFill>
            <a:srgbClr val="D4A744"/>
          </a:solidFill>
          <a:ln w="12700">
            <a:solidFill>
              <a:srgbClr val="D4A744"/>
            </a:solidFill>
            <a:prstDash val="solid"/>
          </a:ln>
        </p:spPr>
        <p:txBody>
          <a:bodyPr/>
          <a:lstStyle/>
          <a:p>
            <a:endParaRPr lang="en-US"/>
          </a:p>
        </p:txBody>
      </p:sp>
      <p:sp>
        <p:nvSpPr>
          <p:cNvPr id="5" name="Text 3"/>
          <p:cNvSpPr/>
          <p:nvPr/>
        </p:nvSpPr>
        <p:spPr>
          <a:xfrm>
            <a:off x="548640" y="1691640"/>
            <a:ext cx="5486400" cy="32004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LCSC.EDU</a:t>
            </a:r>
            <a:endParaRPr lang="en-US" sz="1100" dirty="0"/>
          </a:p>
        </p:txBody>
      </p:sp>
      <p:sp>
        <p:nvSpPr>
          <p:cNvPr id="6" name="Text 4"/>
          <p:cNvSpPr/>
          <p:nvPr/>
        </p:nvSpPr>
        <p:spPr>
          <a:xfrm>
            <a:off x="548640" y="2011680"/>
            <a:ext cx="6858000" cy="1005840"/>
          </a:xfrm>
          <a:prstGeom prst="rect">
            <a:avLst/>
          </a:prstGeom>
          <a:noFill/>
          <a:ln/>
        </p:spPr>
        <p:txBody>
          <a:bodyPr wrap="square" lIns="0" tIns="0" rIns="0" bIns="0" rtlCol="0" anchor="ctr"/>
          <a:lstStyle/>
          <a:p>
            <a:pPr marL="0" indent="0">
              <a:buNone/>
            </a:pPr>
            <a:r>
              <a:rPr lang="en-US" sz="1800" dirty="0">
                <a:solidFill>
                  <a:srgbClr val="64748B"/>
                </a:solidFill>
                <a:latin typeface="Georgia" pitchFamily="34" charset="0"/>
                <a:ea typeface="Georgia" pitchFamily="34" charset="-122"/>
                <a:cs typeface="Georgia" pitchFamily="34" charset="-120"/>
              </a:rPr>
              <a:t>/faculty-staff-directory/</a:t>
            </a:r>
            <a:endParaRPr lang="en-US" sz="1800" dirty="0"/>
          </a:p>
          <a:p>
            <a:pPr marL="0" indent="0">
              <a:buNone/>
            </a:pPr>
            <a:r>
              <a:rPr lang="en-US" sz="2200" b="1" dirty="0">
                <a:solidFill>
                  <a:srgbClr val="0F1A24"/>
                </a:solidFill>
                <a:latin typeface="Georgia" pitchFamily="34" charset="0"/>
                <a:ea typeface="Georgia" pitchFamily="34" charset="-122"/>
                <a:cs typeface="Georgia" pitchFamily="34" charset="-120"/>
              </a:rPr>
              <a:t>joshua-l-rogers</a:t>
            </a:r>
            <a:endParaRPr lang="en-US" sz="1800" dirty="0"/>
          </a:p>
        </p:txBody>
      </p:sp>
      <p:sp>
        <p:nvSpPr>
          <p:cNvPr id="7" name="Shape 5"/>
          <p:cNvSpPr/>
          <p:nvPr/>
        </p:nvSpPr>
        <p:spPr>
          <a:xfrm>
            <a:off x="548640" y="3246120"/>
            <a:ext cx="457200" cy="36576"/>
          </a:xfrm>
          <a:prstGeom prst="rect">
            <a:avLst/>
          </a:prstGeom>
          <a:solidFill>
            <a:srgbClr val="D4A744"/>
          </a:solidFill>
          <a:ln w="12700">
            <a:solidFill>
              <a:srgbClr val="D4A744"/>
            </a:solidFill>
            <a:prstDash val="solid"/>
          </a:ln>
        </p:spPr>
        <p:txBody>
          <a:bodyPr/>
          <a:lstStyle/>
          <a:p>
            <a:endParaRPr lang="en-US"/>
          </a:p>
        </p:txBody>
      </p:sp>
      <p:sp>
        <p:nvSpPr>
          <p:cNvPr id="8" name="Text 6"/>
          <p:cNvSpPr/>
          <p:nvPr/>
        </p:nvSpPr>
        <p:spPr>
          <a:xfrm>
            <a:off x="548640" y="3429000"/>
            <a:ext cx="5486400" cy="274320"/>
          </a:xfrm>
          <a:prstGeom prst="rect">
            <a:avLst/>
          </a:prstGeom>
          <a:noFill/>
          <a:ln/>
        </p:spPr>
        <p:txBody>
          <a:bodyPr wrap="square" lIns="0" tIns="0" rIns="0" bIns="0" rtlCol="0" anchor="ctr"/>
          <a:lstStyle/>
          <a:p>
            <a:pPr marL="0" indent="0">
              <a:buNone/>
            </a:pPr>
            <a:r>
              <a:rPr lang="en-US" sz="1100" b="1" kern="0" spc="400" dirty="0">
                <a:solidFill>
                  <a:srgbClr val="9E7B1F"/>
                </a:solidFill>
                <a:latin typeface="Calibri" pitchFamily="34" charset="0"/>
                <a:ea typeface="Calibri" pitchFamily="34" charset="-122"/>
                <a:cs typeface="Calibri" pitchFamily="34" charset="-120"/>
              </a:rPr>
              <a:t>WHAT YOU'LL FIND</a:t>
            </a:r>
            <a:endParaRPr lang="en-US" sz="1100" dirty="0"/>
          </a:p>
        </p:txBody>
      </p:sp>
      <p:sp>
        <p:nvSpPr>
          <p:cNvPr id="9" name="Shape 7"/>
          <p:cNvSpPr/>
          <p:nvPr/>
        </p:nvSpPr>
        <p:spPr>
          <a:xfrm>
            <a:off x="548640" y="3977640"/>
            <a:ext cx="91440" cy="91440"/>
          </a:xfrm>
          <a:prstGeom prst="rect">
            <a:avLst/>
          </a:prstGeom>
          <a:solidFill>
            <a:srgbClr val="D4A744"/>
          </a:solidFill>
          <a:ln w="12700">
            <a:solidFill>
              <a:srgbClr val="D4A744"/>
            </a:solidFill>
            <a:prstDash val="solid"/>
          </a:ln>
        </p:spPr>
        <p:txBody>
          <a:bodyPr/>
          <a:lstStyle/>
          <a:p>
            <a:endParaRPr lang="en-US"/>
          </a:p>
        </p:txBody>
      </p:sp>
      <p:sp>
        <p:nvSpPr>
          <p:cNvPr id="10" name="Text 8"/>
          <p:cNvSpPr/>
          <p:nvPr/>
        </p:nvSpPr>
        <p:spPr>
          <a:xfrm>
            <a:off x="777240" y="3840480"/>
            <a:ext cx="6400800" cy="274320"/>
          </a:xfrm>
          <a:prstGeom prst="rect">
            <a:avLst/>
          </a:prstGeom>
          <a:noFill/>
          <a:ln/>
        </p:spPr>
        <p:txBody>
          <a:bodyPr wrap="square" lIns="0" tIns="0" rIns="0" bIns="0" rtlCol="0" anchor="ctr"/>
          <a:lstStyle/>
          <a:p>
            <a:pPr marL="0" indent="0">
              <a:buNone/>
            </a:pPr>
            <a:r>
              <a:rPr lang="en-US" sz="1100" b="1" kern="0" spc="300" dirty="0">
                <a:solidFill>
                  <a:srgbClr val="9E7B1F"/>
                </a:solidFill>
                <a:latin typeface="Calibri" pitchFamily="34" charset="0"/>
                <a:ea typeface="Calibri" pitchFamily="34" charset="-122"/>
                <a:cs typeface="Calibri" pitchFamily="34" charset="-120"/>
              </a:rPr>
              <a:t>FREE LESSONS</a:t>
            </a:r>
            <a:endParaRPr lang="en-US" sz="1100" dirty="0"/>
          </a:p>
        </p:txBody>
      </p:sp>
      <p:sp>
        <p:nvSpPr>
          <p:cNvPr id="11" name="Text 9"/>
          <p:cNvSpPr/>
          <p:nvPr/>
        </p:nvSpPr>
        <p:spPr>
          <a:xfrm>
            <a:off x="777240" y="4069080"/>
            <a:ext cx="6400800" cy="27432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Training material and lesson plans from NVIDIA — beginner to advanced.</a:t>
            </a:r>
            <a:endParaRPr lang="en-US" sz="1300" dirty="0"/>
          </a:p>
        </p:txBody>
      </p:sp>
      <p:sp>
        <p:nvSpPr>
          <p:cNvPr id="12" name="Shape 10"/>
          <p:cNvSpPr/>
          <p:nvPr/>
        </p:nvSpPr>
        <p:spPr>
          <a:xfrm>
            <a:off x="548640" y="4526280"/>
            <a:ext cx="91440" cy="91440"/>
          </a:xfrm>
          <a:prstGeom prst="rect">
            <a:avLst/>
          </a:prstGeom>
          <a:solidFill>
            <a:srgbClr val="D4A744"/>
          </a:solidFill>
          <a:ln w="12700">
            <a:solidFill>
              <a:srgbClr val="D4A744"/>
            </a:solidFill>
            <a:prstDash val="solid"/>
          </a:ln>
        </p:spPr>
        <p:txBody>
          <a:bodyPr/>
          <a:lstStyle/>
          <a:p>
            <a:endParaRPr lang="en-US"/>
          </a:p>
        </p:txBody>
      </p:sp>
      <p:sp>
        <p:nvSpPr>
          <p:cNvPr id="13" name="Text 11"/>
          <p:cNvSpPr/>
          <p:nvPr/>
        </p:nvSpPr>
        <p:spPr>
          <a:xfrm>
            <a:off x="777240" y="4389120"/>
            <a:ext cx="6400800" cy="274320"/>
          </a:xfrm>
          <a:prstGeom prst="rect">
            <a:avLst/>
          </a:prstGeom>
          <a:noFill/>
          <a:ln/>
        </p:spPr>
        <p:txBody>
          <a:bodyPr wrap="square" lIns="0" tIns="0" rIns="0" bIns="0" rtlCol="0" anchor="ctr"/>
          <a:lstStyle/>
          <a:p>
            <a:pPr marL="0" indent="0">
              <a:buNone/>
            </a:pPr>
            <a:r>
              <a:rPr lang="en-US" sz="1100" b="1" kern="0" spc="300" dirty="0">
                <a:solidFill>
                  <a:srgbClr val="9E7B1F"/>
                </a:solidFill>
                <a:latin typeface="Calibri" pitchFamily="34" charset="0"/>
                <a:ea typeface="Calibri" pitchFamily="34" charset="-122"/>
                <a:cs typeface="Calibri" pitchFamily="34" charset="-120"/>
              </a:rPr>
              <a:t>SCHOLARLY ARTICLES</a:t>
            </a:r>
            <a:endParaRPr lang="en-US" sz="1100" dirty="0"/>
          </a:p>
        </p:txBody>
      </p:sp>
      <p:sp>
        <p:nvSpPr>
          <p:cNvPr id="14" name="Text 12"/>
          <p:cNvSpPr/>
          <p:nvPr/>
        </p:nvSpPr>
        <p:spPr>
          <a:xfrm>
            <a:off x="777240" y="4617720"/>
            <a:ext cx="6400800" cy="27432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Links to AI research publications referenced in this presentation.</a:t>
            </a:r>
            <a:endParaRPr lang="en-US" sz="1300" dirty="0"/>
          </a:p>
        </p:txBody>
      </p:sp>
      <p:sp>
        <p:nvSpPr>
          <p:cNvPr id="15" name="Shape 13"/>
          <p:cNvSpPr/>
          <p:nvPr/>
        </p:nvSpPr>
        <p:spPr>
          <a:xfrm>
            <a:off x="548640" y="5074920"/>
            <a:ext cx="91440" cy="91440"/>
          </a:xfrm>
          <a:prstGeom prst="rect">
            <a:avLst/>
          </a:prstGeom>
          <a:solidFill>
            <a:srgbClr val="D4A744"/>
          </a:solidFill>
          <a:ln w="12700">
            <a:solidFill>
              <a:srgbClr val="D4A744"/>
            </a:solidFill>
            <a:prstDash val="solid"/>
          </a:ln>
        </p:spPr>
        <p:txBody>
          <a:bodyPr/>
          <a:lstStyle/>
          <a:p>
            <a:endParaRPr lang="en-US"/>
          </a:p>
        </p:txBody>
      </p:sp>
      <p:sp>
        <p:nvSpPr>
          <p:cNvPr id="16" name="Text 14"/>
          <p:cNvSpPr/>
          <p:nvPr/>
        </p:nvSpPr>
        <p:spPr>
          <a:xfrm>
            <a:off x="777240" y="4937760"/>
            <a:ext cx="6400800" cy="274320"/>
          </a:xfrm>
          <a:prstGeom prst="rect">
            <a:avLst/>
          </a:prstGeom>
          <a:noFill/>
          <a:ln/>
        </p:spPr>
        <p:txBody>
          <a:bodyPr wrap="square" lIns="0" tIns="0" rIns="0" bIns="0" rtlCol="0" anchor="ctr"/>
          <a:lstStyle/>
          <a:p>
            <a:pPr marL="0" indent="0">
              <a:buNone/>
            </a:pPr>
            <a:r>
              <a:rPr lang="en-US" sz="1100" b="1" kern="0" spc="300" dirty="0">
                <a:solidFill>
                  <a:srgbClr val="9E7B1F"/>
                </a:solidFill>
                <a:latin typeface="Calibri" pitchFamily="34" charset="0"/>
                <a:ea typeface="Calibri" pitchFamily="34" charset="-122"/>
                <a:cs typeface="Calibri" pitchFamily="34" charset="-120"/>
              </a:rPr>
              <a:t>AI NEWS &amp; EDUCATION</a:t>
            </a:r>
            <a:endParaRPr lang="en-US" sz="1100" dirty="0"/>
          </a:p>
        </p:txBody>
      </p:sp>
      <p:sp>
        <p:nvSpPr>
          <p:cNvPr id="17" name="Text 15"/>
          <p:cNvSpPr/>
          <p:nvPr/>
        </p:nvSpPr>
        <p:spPr>
          <a:xfrm>
            <a:off x="777240" y="5166360"/>
            <a:ext cx="6400800" cy="27432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YouTube channels featuring the latest news about AI.</a:t>
            </a:r>
            <a:endParaRPr lang="en-US" sz="1300" dirty="0"/>
          </a:p>
        </p:txBody>
      </p:sp>
      <p:sp>
        <p:nvSpPr>
          <p:cNvPr id="18" name="Shape 16"/>
          <p:cNvSpPr/>
          <p:nvPr/>
        </p:nvSpPr>
        <p:spPr>
          <a:xfrm>
            <a:off x="548640" y="5623560"/>
            <a:ext cx="91440" cy="91440"/>
          </a:xfrm>
          <a:prstGeom prst="rect">
            <a:avLst/>
          </a:prstGeom>
          <a:solidFill>
            <a:srgbClr val="D4A744"/>
          </a:solidFill>
          <a:ln w="12700">
            <a:solidFill>
              <a:srgbClr val="D4A744"/>
            </a:solidFill>
            <a:prstDash val="solid"/>
          </a:ln>
        </p:spPr>
        <p:txBody>
          <a:bodyPr/>
          <a:lstStyle/>
          <a:p>
            <a:endParaRPr lang="en-US"/>
          </a:p>
        </p:txBody>
      </p:sp>
      <p:sp>
        <p:nvSpPr>
          <p:cNvPr id="19" name="Text 17"/>
          <p:cNvSpPr/>
          <p:nvPr/>
        </p:nvSpPr>
        <p:spPr>
          <a:xfrm>
            <a:off x="777240" y="5486400"/>
            <a:ext cx="6400800" cy="274320"/>
          </a:xfrm>
          <a:prstGeom prst="rect">
            <a:avLst/>
          </a:prstGeom>
          <a:noFill/>
          <a:ln/>
        </p:spPr>
        <p:txBody>
          <a:bodyPr wrap="square" lIns="0" tIns="0" rIns="0" bIns="0" rtlCol="0" anchor="ctr"/>
          <a:lstStyle/>
          <a:p>
            <a:pPr marL="0" indent="0">
              <a:buNone/>
            </a:pPr>
            <a:r>
              <a:rPr lang="en-US" sz="1100" b="1" kern="0" spc="300" dirty="0">
                <a:solidFill>
                  <a:srgbClr val="9E7B1F"/>
                </a:solidFill>
                <a:latin typeface="Calibri" pitchFamily="34" charset="0"/>
                <a:ea typeface="Calibri" pitchFamily="34" charset="-122"/>
                <a:cs typeface="Calibri" pitchFamily="34" charset="-120"/>
              </a:rPr>
              <a:t>DEEPER DIVES</a:t>
            </a:r>
            <a:endParaRPr lang="en-US" sz="1100" dirty="0"/>
          </a:p>
        </p:txBody>
      </p:sp>
      <p:sp>
        <p:nvSpPr>
          <p:cNvPr id="20" name="Text 18"/>
          <p:cNvSpPr/>
          <p:nvPr/>
        </p:nvSpPr>
        <p:spPr>
          <a:xfrm>
            <a:off x="777240" y="5715000"/>
            <a:ext cx="6400800" cy="27432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Links to AI tools, websites, projects, and tutorials.</a:t>
            </a:r>
            <a:endParaRPr lang="en-US" sz="1300" dirty="0"/>
          </a:p>
        </p:txBody>
      </p:sp>
      <p:sp>
        <p:nvSpPr>
          <p:cNvPr id="21" name="Shape 19"/>
          <p:cNvSpPr/>
          <p:nvPr/>
        </p:nvSpPr>
        <p:spPr>
          <a:xfrm>
            <a:off x="8229600" y="1691640"/>
            <a:ext cx="3383280" cy="4572000"/>
          </a:xfrm>
          <a:prstGeom prst="rect">
            <a:avLst/>
          </a:prstGeom>
          <a:solidFill>
            <a:srgbClr val="FFFFFF"/>
          </a:solidFill>
          <a:ln w="12700">
            <a:solidFill>
              <a:srgbClr val="E2E8F0"/>
            </a:solidFill>
            <a:prstDash val="solid"/>
          </a:ln>
        </p:spPr>
        <p:txBody>
          <a:bodyPr/>
          <a:lstStyle/>
          <a:p>
            <a:endParaRPr lang="en-US"/>
          </a:p>
        </p:txBody>
      </p:sp>
      <p:sp>
        <p:nvSpPr>
          <p:cNvPr id="22" name="Shape 20"/>
          <p:cNvSpPr/>
          <p:nvPr/>
        </p:nvSpPr>
        <p:spPr>
          <a:xfrm>
            <a:off x="8229600" y="1691640"/>
            <a:ext cx="3383280" cy="73152"/>
          </a:xfrm>
          <a:prstGeom prst="rect">
            <a:avLst/>
          </a:prstGeom>
          <a:solidFill>
            <a:srgbClr val="D4A744"/>
          </a:solidFill>
          <a:ln w="12700">
            <a:solidFill>
              <a:srgbClr val="D4A744"/>
            </a:solidFill>
            <a:prstDash val="solid"/>
          </a:ln>
        </p:spPr>
        <p:txBody>
          <a:bodyPr/>
          <a:lstStyle/>
          <a:p>
            <a:endParaRPr lang="en-US"/>
          </a:p>
        </p:txBody>
      </p:sp>
      <p:sp>
        <p:nvSpPr>
          <p:cNvPr id="23" name="Text 21"/>
          <p:cNvSpPr/>
          <p:nvPr/>
        </p:nvSpPr>
        <p:spPr>
          <a:xfrm>
            <a:off x="8229600" y="1965960"/>
            <a:ext cx="3383280" cy="320040"/>
          </a:xfrm>
          <a:prstGeom prst="rect">
            <a:avLst/>
          </a:prstGeom>
          <a:noFill/>
          <a:ln/>
        </p:spPr>
        <p:txBody>
          <a:bodyPr wrap="square" lIns="0" tIns="0" rIns="0" bIns="0" rtlCol="0" anchor="ctr"/>
          <a:lstStyle/>
          <a:p>
            <a:pPr marL="0" indent="0" algn="ctr">
              <a:buNone/>
            </a:pPr>
            <a:r>
              <a:rPr lang="en-US" sz="1100" b="1" kern="0" spc="500" dirty="0">
                <a:solidFill>
                  <a:srgbClr val="9E7B1F"/>
                </a:solidFill>
                <a:latin typeface="Calibri" pitchFamily="34" charset="0"/>
                <a:ea typeface="Calibri" pitchFamily="34" charset="-122"/>
                <a:cs typeface="Calibri" pitchFamily="34" charset="-120"/>
              </a:rPr>
              <a:t>SCAN TO VISIT</a:t>
            </a:r>
            <a:endParaRPr lang="en-US" sz="1100" dirty="0"/>
          </a:p>
        </p:txBody>
      </p:sp>
      <p:pic>
        <p:nvPicPr>
          <p:cNvPr id="24" name="Image 0" descr="preencoded.png"/>
          <p:cNvPicPr>
            <a:picLocks noChangeAspect="1"/>
          </p:cNvPicPr>
          <p:nvPr/>
        </p:nvPicPr>
        <p:blipFill>
          <a:blip r:embed="rId3"/>
          <a:stretch>
            <a:fillRect/>
          </a:stretch>
        </p:blipFill>
        <p:spPr>
          <a:xfrm>
            <a:off x="8778240" y="2377440"/>
            <a:ext cx="2286000" cy="2286000"/>
          </a:xfrm>
          <a:prstGeom prst="rect">
            <a:avLst/>
          </a:prstGeom>
        </p:spPr>
      </p:pic>
      <p:sp>
        <p:nvSpPr>
          <p:cNvPr id="25" name="Text 22"/>
          <p:cNvSpPr/>
          <p:nvPr/>
        </p:nvSpPr>
        <p:spPr>
          <a:xfrm>
            <a:off x="8229600" y="4800600"/>
            <a:ext cx="3383280" cy="365760"/>
          </a:xfrm>
          <a:prstGeom prst="rect">
            <a:avLst/>
          </a:prstGeom>
          <a:noFill/>
          <a:ln/>
        </p:spPr>
        <p:txBody>
          <a:bodyPr wrap="square" lIns="0" tIns="0" rIns="0" bIns="0" rtlCol="0" anchor="ctr"/>
          <a:lstStyle/>
          <a:p>
            <a:pPr marL="0" indent="0" algn="ctr">
              <a:buNone/>
            </a:pPr>
            <a:r>
              <a:rPr lang="en-US" sz="1800" b="1" dirty="0">
                <a:solidFill>
                  <a:srgbClr val="0F1A24"/>
                </a:solidFill>
                <a:latin typeface="Georgia" pitchFamily="34" charset="0"/>
                <a:ea typeface="Georgia" pitchFamily="34" charset="-122"/>
                <a:cs typeface="Georgia" pitchFamily="34" charset="-120"/>
              </a:rPr>
              <a:t>Faculty Profile</a:t>
            </a:r>
            <a:endParaRPr lang="en-US" sz="1800" dirty="0"/>
          </a:p>
        </p:txBody>
      </p:sp>
      <p:sp>
        <p:nvSpPr>
          <p:cNvPr id="26" name="Text 23"/>
          <p:cNvSpPr/>
          <p:nvPr/>
        </p:nvSpPr>
        <p:spPr>
          <a:xfrm>
            <a:off x="8229600" y="5166360"/>
            <a:ext cx="3383280" cy="32004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Joshua L. Rogers</a:t>
            </a:r>
            <a:endParaRPr lang="en-US" sz="1300" dirty="0"/>
          </a:p>
        </p:txBody>
      </p:sp>
      <p:sp>
        <p:nvSpPr>
          <p:cNvPr id="27" name="Text 24"/>
          <p:cNvSpPr/>
          <p:nvPr/>
        </p:nvSpPr>
        <p:spPr>
          <a:xfrm>
            <a:off x="8229600" y="5486400"/>
            <a:ext cx="3383280" cy="32004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Lewis-Clark State College</a:t>
            </a:r>
            <a:endParaRPr lang="en-US" sz="1200" dirty="0"/>
          </a:p>
        </p:txBody>
      </p:sp>
      <p:sp>
        <p:nvSpPr>
          <p:cNvPr id="28" name="Text 25"/>
          <p:cNvSpPr/>
          <p:nvPr/>
        </p:nvSpPr>
        <p:spPr>
          <a:xfrm>
            <a:off x="54864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AI in 2026: A Practical Overview</a:t>
            </a:r>
            <a:endParaRPr lang="en-US" sz="900" dirty="0"/>
          </a:p>
        </p:txBody>
      </p:sp>
      <p:sp>
        <p:nvSpPr>
          <p:cNvPr id="29" name="Text 26"/>
          <p:cNvSpPr/>
          <p:nvPr/>
        </p:nvSpPr>
        <p:spPr>
          <a:xfrm>
            <a:off x="11338560" y="653796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32" name="Text 24">
            <a:extLst>
              <a:ext uri="{FF2B5EF4-FFF2-40B4-BE49-F238E27FC236}">
                <a16:creationId xmlns:a16="http://schemas.microsoft.com/office/drawing/2014/main" id="{2F7B7E2D-D270-A9D6-F407-4ED24078FE3F}"/>
              </a:ext>
            </a:extLst>
          </p:cNvPr>
          <p:cNvSpPr/>
          <p:nvPr/>
        </p:nvSpPr>
        <p:spPr>
          <a:xfrm>
            <a:off x="8229600" y="5803422"/>
            <a:ext cx="3383280" cy="32004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www.lcsc.edu/faculty-staff-directory/joshua-l-rogers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1320</Words>
  <Application>Microsoft Office PowerPoint</Application>
  <PresentationFormat>Widescreen</PresentationFormat>
  <Paragraphs>229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2026: A Practical Overview</dc:title>
  <dc:subject>PptxGenJS Presentation</dc:subject>
  <dc:creator>Joshua L. Rogers</dc:creator>
  <cp:lastModifiedBy>Joshua L. Rogers</cp:lastModifiedBy>
  <cp:revision>5</cp:revision>
  <dcterms:created xsi:type="dcterms:W3CDTF">2026-04-28T23:02:35Z</dcterms:created>
  <dcterms:modified xsi:type="dcterms:W3CDTF">2026-04-29T00:40:27Z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452c9e7-abca-4a0c-8d1e-359de5859faf_Enabled">
    <vt:lpwstr>true</vt:lpwstr>
  </property>
  <property fmtid="{D5CDD505-2E9C-101B-9397-08002B2CF9AE}" pid="3" name="MSIP_Label_5452c9e7-abca-4a0c-8d1e-359de5859faf_SetDate">
    <vt:lpwstr>2026-04-28T23:25:25Z</vt:lpwstr>
  </property>
  <property fmtid="{D5CDD505-2E9C-101B-9397-08002B2CF9AE}" pid="4" name="MSIP_Label_5452c9e7-abca-4a0c-8d1e-359de5859faf_Method">
    <vt:lpwstr>Standard</vt:lpwstr>
  </property>
  <property fmtid="{D5CDD505-2E9C-101B-9397-08002B2CF9AE}" pid="5" name="MSIP_Label_5452c9e7-abca-4a0c-8d1e-359de5859faf_Name">
    <vt:lpwstr>2 - Internal Data</vt:lpwstr>
  </property>
  <property fmtid="{D5CDD505-2E9C-101B-9397-08002B2CF9AE}" pid="6" name="MSIP_Label_5452c9e7-abca-4a0c-8d1e-359de5859faf_SiteId">
    <vt:lpwstr>d69af587-4121-4d4c-91c0-fc1a66f46621</vt:lpwstr>
  </property>
  <property fmtid="{D5CDD505-2E9C-101B-9397-08002B2CF9AE}" pid="7" name="MSIP_Label_5452c9e7-abca-4a0c-8d1e-359de5859faf_ActionId">
    <vt:lpwstr>ccc01d83-655d-44bd-9a23-faef638ac3ca</vt:lpwstr>
  </property>
  <property fmtid="{D5CDD505-2E9C-101B-9397-08002B2CF9AE}" pid="8" name="MSIP_Label_5452c9e7-abca-4a0c-8d1e-359de5859faf_ContentBits">
    <vt:lpwstr>0</vt:lpwstr>
  </property>
  <property fmtid="{D5CDD505-2E9C-101B-9397-08002B2CF9AE}" pid="9" name="MSIP_Label_5452c9e7-abca-4a0c-8d1e-359de5859faf_Tag">
    <vt:lpwstr>10, 3, 0, 1</vt:lpwstr>
  </property>
</Properties>
</file>